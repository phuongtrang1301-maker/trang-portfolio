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651A1-B338-C447-94B3-7017F782E0C0}" v="190" dt="2026-03-03T20:41:57.364"/>
    <p1510:client id="{5DE5E046-543D-4880-B34A-BBE44E109B5F}" v="244" dt="2026-03-03T21:50:50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09" autoAdjust="0"/>
    <p:restoredTop sz="94608"/>
  </p:normalViewPr>
  <p:slideViewPr>
    <p:cSldViewPr snapToGrid="0">
      <p:cViewPr>
        <p:scale>
          <a:sx n="66" d="100"/>
          <a:sy n="66" d="100"/>
        </p:scale>
        <p:origin x="36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ng Hoang" userId="49fb93bd-e5d7-493a-95ef-c3a8e5af720f" providerId="ADAL" clId="{38452FEC-E404-4A5E-B2AA-22BFFCD95902}"/>
    <pc:docChg chg="custSel addSld modSld sldOrd">
      <pc:chgData name="Trang Hoang" userId="49fb93bd-e5d7-493a-95ef-c3a8e5af720f" providerId="ADAL" clId="{38452FEC-E404-4A5E-B2AA-22BFFCD95902}" dt="2026-03-03T21:50:50.325" v="291" actId="113"/>
      <pc:docMkLst>
        <pc:docMk/>
      </pc:docMkLst>
      <pc:sldChg chg="modSp mod ord">
        <pc:chgData name="Trang Hoang" userId="49fb93bd-e5d7-493a-95ef-c3a8e5af720f" providerId="ADAL" clId="{38452FEC-E404-4A5E-B2AA-22BFFCD95902}" dt="2026-03-03T21:47:15.277" v="258" actId="20577"/>
        <pc:sldMkLst>
          <pc:docMk/>
          <pc:sldMk cId="2104605227" sldId="260"/>
        </pc:sldMkLst>
        <pc:spChg chg="mod">
          <ac:chgData name="Trang Hoang" userId="49fb93bd-e5d7-493a-95ef-c3a8e5af720f" providerId="ADAL" clId="{38452FEC-E404-4A5E-B2AA-22BFFCD95902}" dt="2026-03-03T21:47:15.277" v="258" actId="20577"/>
          <ac:spMkLst>
            <pc:docMk/>
            <pc:sldMk cId="2104605227" sldId="260"/>
            <ac:spMk id="3" creationId="{5AC02865-EE75-A066-704D-51343788441D}"/>
          </ac:spMkLst>
        </pc:spChg>
      </pc:sldChg>
      <pc:sldChg chg="modSp">
        <pc:chgData name="Trang Hoang" userId="49fb93bd-e5d7-493a-95ef-c3a8e5af720f" providerId="ADAL" clId="{38452FEC-E404-4A5E-B2AA-22BFFCD95902}" dt="2026-03-03T21:50:50.325" v="291" actId="113"/>
        <pc:sldMkLst>
          <pc:docMk/>
          <pc:sldMk cId="1446308307" sldId="261"/>
        </pc:sldMkLst>
        <pc:graphicFrameChg chg="mod">
          <ac:chgData name="Trang Hoang" userId="49fb93bd-e5d7-493a-95ef-c3a8e5af720f" providerId="ADAL" clId="{38452FEC-E404-4A5E-B2AA-22BFFCD95902}" dt="2026-03-03T21:50:50.325" v="291" actId="113"/>
          <ac:graphicFrameMkLst>
            <pc:docMk/>
            <pc:sldMk cId="1446308307" sldId="261"/>
            <ac:graphicFrameMk id="10" creationId="{D40802AC-554C-94F8-DDAD-009011593698}"/>
          </ac:graphicFrameMkLst>
        </pc:graphicFrameChg>
      </pc:sldChg>
      <pc:sldChg chg="addSp delSp modSp new mod">
        <pc:chgData name="Trang Hoang" userId="49fb93bd-e5d7-493a-95ef-c3a8e5af720f" providerId="ADAL" clId="{38452FEC-E404-4A5E-B2AA-22BFFCD95902}" dt="2026-03-03T21:48:53.032" v="283" actId="20577"/>
        <pc:sldMkLst>
          <pc:docMk/>
          <pc:sldMk cId="2517238271" sldId="263"/>
        </pc:sldMkLst>
        <pc:spChg chg="del">
          <ac:chgData name="Trang Hoang" userId="49fb93bd-e5d7-493a-95ef-c3a8e5af720f" providerId="ADAL" clId="{38452FEC-E404-4A5E-B2AA-22BFFCD95902}" dt="2026-03-03T21:39:57.108" v="3" actId="478"/>
          <ac:spMkLst>
            <pc:docMk/>
            <pc:sldMk cId="2517238271" sldId="263"/>
            <ac:spMk id="2" creationId="{6CAA52DE-DE28-3271-61E0-6D6F3D214F5C}"/>
          </ac:spMkLst>
        </pc:spChg>
        <pc:spChg chg="del">
          <ac:chgData name="Trang Hoang" userId="49fb93bd-e5d7-493a-95ef-c3a8e5af720f" providerId="ADAL" clId="{38452FEC-E404-4A5E-B2AA-22BFFCD95902}" dt="2026-03-03T21:39:54.041" v="2" actId="478"/>
          <ac:spMkLst>
            <pc:docMk/>
            <pc:sldMk cId="2517238271" sldId="263"/>
            <ac:spMk id="3" creationId="{51A4E3D4-43FB-75AD-EA24-A27F89309F83}"/>
          </ac:spMkLst>
        </pc:spChg>
        <pc:spChg chg="add mod">
          <ac:chgData name="Trang Hoang" userId="49fb93bd-e5d7-493a-95ef-c3a8e5af720f" providerId="ADAL" clId="{38452FEC-E404-4A5E-B2AA-22BFFCD95902}" dt="2026-03-03T21:48:53.032" v="283" actId="20577"/>
          <ac:spMkLst>
            <pc:docMk/>
            <pc:sldMk cId="2517238271" sldId="263"/>
            <ac:spMk id="6" creationId="{3D1BF890-C372-AFAA-4C2D-E2C97068EB71}"/>
          </ac:spMkLst>
        </pc:spChg>
        <pc:picChg chg="add mod">
          <ac:chgData name="Trang Hoang" userId="49fb93bd-e5d7-493a-95ef-c3a8e5af720f" providerId="ADAL" clId="{38452FEC-E404-4A5E-B2AA-22BFFCD95902}" dt="2026-03-03T21:40:17.744" v="6" actId="1076"/>
          <ac:picMkLst>
            <pc:docMk/>
            <pc:sldMk cId="2517238271" sldId="263"/>
            <ac:picMk id="5" creationId="{4178FFF5-F794-C726-933B-BD5E228D107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B756C0-90A7-FE42-94DD-1E9FDED56C39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7CC0CE9-1C2A-7F4E-98D7-88BDF13AABFF}">
      <dgm:prSet/>
      <dgm:spPr>
        <a:ln>
          <a:solidFill>
            <a:srgbClr val="00B050"/>
          </a:solidFill>
        </a:ln>
      </dgm:spPr>
      <dgm:t>
        <a:bodyPr/>
        <a:lstStyle/>
        <a:p>
          <a:r>
            <a:rPr lang="en-US" b="1"/>
            <a:t>May 2024</a:t>
          </a:r>
          <a:endParaRPr lang="en-CA"/>
        </a:p>
      </dgm:t>
    </dgm:pt>
    <dgm:pt modelId="{72CECA36-0752-F142-962E-679A9108A4E4}" type="parTrans" cxnId="{F845BA19-60B5-3A45-A1F8-D548D5ADFF57}">
      <dgm:prSet/>
      <dgm:spPr/>
      <dgm:t>
        <a:bodyPr/>
        <a:lstStyle/>
        <a:p>
          <a:endParaRPr lang="en-US"/>
        </a:p>
      </dgm:t>
    </dgm:pt>
    <dgm:pt modelId="{E7916727-EB20-854A-BAC7-E91F997B7071}" type="sibTrans" cxnId="{F845BA19-60B5-3A45-A1F8-D548D5ADFF57}">
      <dgm:prSet/>
      <dgm:spPr/>
      <dgm:t>
        <a:bodyPr/>
        <a:lstStyle/>
        <a:p>
          <a:endParaRPr lang="en-US"/>
        </a:p>
      </dgm:t>
    </dgm:pt>
    <dgm:pt modelId="{F3CBA2B5-E4CB-0E4C-B3E7-19961DA59F6C}">
      <dgm:prSet/>
      <dgm:spPr/>
      <dgm:t>
        <a:bodyPr/>
        <a:lstStyle/>
        <a:p>
          <a:r>
            <a:rPr lang="en-US"/>
            <a:t>Production Intensity normal (+2%)</a:t>
          </a:r>
          <a:endParaRPr lang="en-CA"/>
        </a:p>
      </dgm:t>
    </dgm:pt>
    <dgm:pt modelId="{C5B415DF-7218-0149-9141-13135CD8D258}" type="parTrans" cxnId="{ECF4B580-7781-7546-85A0-2E5A57C2BB8D}">
      <dgm:prSet/>
      <dgm:spPr/>
      <dgm:t>
        <a:bodyPr/>
        <a:lstStyle/>
        <a:p>
          <a:endParaRPr lang="en-US"/>
        </a:p>
      </dgm:t>
    </dgm:pt>
    <dgm:pt modelId="{401B202B-EDEC-6D44-B055-AC12214B7E64}" type="sibTrans" cxnId="{ECF4B580-7781-7546-85A0-2E5A57C2BB8D}">
      <dgm:prSet/>
      <dgm:spPr/>
      <dgm:t>
        <a:bodyPr/>
        <a:lstStyle/>
        <a:p>
          <a:endParaRPr lang="en-US"/>
        </a:p>
      </dgm:t>
    </dgm:pt>
    <dgm:pt modelId="{6B6C0695-D8BC-5B49-AD4E-335243FFC7C4}">
      <dgm:prSet/>
      <dgm:spPr/>
      <dgm:t>
        <a:bodyPr/>
        <a:lstStyle/>
        <a:p>
          <a:r>
            <a:rPr lang="en-US"/>
            <a:t>Peak Demand +31% above baseline</a:t>
          </a:r>
          <a:endParaRPr lang="en-CA"/>
        </a:p>
      </dgm:t>
    </dgm:pt>
    <dgm:pt modelId="{388A05B0-FFE5-9540-A0FF-FE8C3C75AF64}" type="parTrans" cxnId="{94ECE3EA-60D1-9E41-9EEC-3D71DB2DC0B8}">
      <dgm:prSet/>
      <dgm:spPr/>
      <dgm:t>
        <a:bodyPr/>
        <a:lstStyle/>
        <a:p>
          <a:endParaRPr lang="en-US"/>
        </a:p>
      </dgm:t>
    </dgm:pt>
    <dgm:pt modelId="{2D49A1B4-F2EA-6949-AB48-50F98D11BD4D}" type="sibTrans" cxnId="{94ECE3EA-60D1-9E41-9EEC-3D71DB2DC0B8}">
      <dgm:prSet/>
      <dgm:spPr/>
      <dgm:t>
        <a:bodyPr/>
        <a:lstStyle/>
        <a:p>
          <a:endParaRPr lang="en-US"/>
        </a:p>
      </dgm:t>
    </dgm:pt>
    <dgm:pt modelId="{073DDB68-4673-2A42-AF2F-51A544003A9E}">
      <dgm:prSet/>
      <dgm:spPr/>
      <dgm:t>
        <a:bodyPr/>
        <a:lstStyle/>
        <a:p>
          <a:r>
            <a:rPr lang="en-US"/>
            <a:t>Cost spike driven by equipment concurrency</a:t>
          </a:r>
          <a:endParaRPr lang="en-CA"/>
        </a:p>
      </dgm:t>
    </dgm:pt>
    <dgm:pt modelId="{486288EA-CA91-4048-81AE-2363816B35F5}" type="parTrans" cxnId="{F4ACCD1E-49B2-FA4C-B905-E6C26953864D}">
      <dgm:prSet/>
      <dgm:spPr/>
      <dgm:t>
        <a:bodyPr/>
        <a:lstStyle/>
        <a:p>
          <a:endParaRPr lang="en-US"/>
        </a:p>
      </dgm:t>
    </dgm:pt>
    <dgm:pt modelId="{F7D1E604-E738-E04C-80D7-244584DDC793}" type="sibTrans" cxnId="{F4ACCD1E-49B2-FA4C-B905-E6C26953864D}">
      <dgm:prSet/>
      <dgm:spPr/>
      <dgm:t>
        <a:bodyPr/>
        <a:lstStyle/>
        <a:p>
          <a:endParaRPr lang="en-US"/>
        </a:p>
      </dgm:t>
    </dgm:pt>
    <dgm:pt modelId="{1DFCC922-4757-3940-90A7-CBFC394AEAA4}">
      <dgm:prSet/>
      <dgm:spPr/>
      <dgm:t>
        <a:bodyPr/>
        <a:lstStyle/>
        <a:p>
          <a:r>
            <a:rPr lang="en-US" b="1" dirty="0"/>
            <a:t>July 2024</a:t>
          </a:r>
          <a:endParaRPr lang="en-CA" dirty="0"/>
        </a:p>
      </dgm:t>
    </dgm:pt>
    <dgm:pt modelId="{12800E7B-B1D6-BE47-B07A-76A6F4B9142B}" type="parTrans" cxnId="{222141BF-1810-3548-BCA6-EB89DC47D02D}">
      <dgm:prSet/>
      <dgm:spPr/>
      <dgm:t>
        <a:bodyPr/>
        <a:lstStyle/>
        <a:p>
          <a:endParaRPr lang="en-US"/>
        </a:p>
      </dgm:t>
    </dgm:pt>
    <dgm:pt modelId="{20BBC49D-11D5-E140-9591-630C81DA9264}" type="sibTrans" cxnId="{222141BF-1810-3548-BCA6-EB89DC47D02D}">
      <dgm:prSet/>
      <dgm:spPr/>
      <dgm:t>
        <a:bodyPr/>
        <a:lstStyle/>
        <a:p>
          <a:endParaRPr lang="en-US"/>
        </a:p>
      </dgm:t>
    </dgm:pt>
    <dgm:pt modelId="{A10CBF4D-A210-FD46-B1DB-424B24FA94F3}">
      <dgm:prSet/>
      <dgm:spPr/>
      <dgm:t>
        <a:bodyPr/>
        <a:lstStyle/>
        <a:p>
          <a:r>
            <a:rPr lang="en-US"/>
            <a:t>Slightly higher production (+8%)</a:t>
          </a:r>
          <a:endParaRPr lang="en-CA"/>
        </a:p>
      </dgm:t>
    </dgm:pt>
    <dgm:pt modelId="{8F892F8E-3D9B-E140-B813-4ACB823BB864}" type="parTrans" cxnId="{1ACD0757-F26D-AB46-AD61-810672684DB8}">
      <dgm:prSet/>
      <dgm:spPr/>
      <dgm:t>
        <a:bodyPr/>
        <a:lstStyle/>
        <a:p>
          <a:endParaRPr lang="en-US"/>
        </a:p>
      </dgm:t>
    </dgm:pt>
    <dgm:pt modelId="{FAFE45D4-92B3-AF44-A503-655496CE3868}" type="sibTrans" cxnId="{1ACD0757-F26D-AB46-AD61-810672684DB8}">
      <dgm:prSet/>
      <dgm:spPr/>
      <dgm:t>
        <a:bodyPr/>
        <a:lstStyle/>
        <a:p>
          <a:endParaRPr lang="en-US"/>
        </a:p>
      </dgm:t>
    </dgm:pt>
    <dgm:pt modelId="{60F89291-AB07-C344-9E89-2875B9B8477B}">
      <dgm:prSet/>
      <dgm:spPr/>
      <dgm:t>
        <a:bodyPr/>
        <a:lstStyle/>
        <a:p>
          <a:r>
            <a:rPr lang="en-US" dirty="0"/>
            <a:t>Peak demand +32% above baseline</a:t>
          </a:r>
          <a:endParaRPr lang="en-CA" dirty="0"/>
        </a:p>
      </dgm:t>
    </dgm:pt>
    <dgm:pt modelId="{C7E8214E-1956-F642-8DC2-A57259CC5E46}" type="parTrans" cxnId="{46CBFAF6-2FF6-CC4B-985C-AED0E51163A7}">
      <dgm:prSet/>
      <dgm:spPr/>
      <dgm:t>
        <a:bodyPr/>
        <a:lstStyle/>
        <a:p>
          <a:endParaRPr lang="en-US"/>
        </a:p>
      </dgm:t>
    </dgm:pt>
    <dgm:pt modelId="{BEFCD586-C062-6143-869D-D9D9C0F09102}" type="sibTrans" cxnId="{46CBFAF6-2FF6-CC4B-985C-AED0E51163A7}">
      <dgm:prSet/>
      <dgm:spPr/>
      <dgm:t>
        <a:bodyPr/>
        <a:lstStyle/>
        <a:p>
          <a:endParaRPr lang="en-US"/>
        </a:p>
      </dgm:t>
    </dgm:pt>
    <dgm:pt modelId="{70AE22FC-DFF7-7E49-8393-6ED4E3611E1D}">
      <dgm:prSet/>
      <dgm:spPr/>
      <dgm:t>
        <a:bodyPr/>
        <a:lstStyle/>
        <a:p>
          <a:r>
            <a:rPr lang="en-US" dirty="0"/>
            <a:t>=&gt; Combined energy + demand effect</a:t>
          </a:r>
          <a:endParaRPr lang="en-CA" dirty="0"/>
        </a:p>
      </dgm:t>
    </dgm:pt>
    <dgm:pt modelId="{70978955-4AB1-1B4D-990C-F052DE0302DB}" type="parTrans" cxnId="{22B5E9F6-77BC-D942-A126-DED9F6912E99}">
      <dgm:prSet/>
      <dgm:spPr/>
      <dgm:t>
        <a:bodyPr/>
        <a:lstStyle/>
        <a:p>
          <a:endParaRPr lang="en-US"/>
        </a:p>
      </dgm:t>
    </dgm:pt>
    <dgm:pt modelId="{AC303A64-6F6D-8C49-BC66-20884AF4D9CA}" type="sibTrans" cxnId="{22B5E9F6-77BC-D942-A126-DED9F6912E99}">
      <dgm:prSet/>
      <dgm:spPr/>
      <dgm:t>
        <a:bodyPr/>
        <a:lstStyle/>
        <a:p>
          <a:endParaRPr lang="en-US"/>
        </a:p>
      </dgm:t>
    </dgm:pt>
    <dgm:pt modelId="{00A90990-93A6-A841-89A8-BF7F7FF25629}" type="pres">
      <dgm:prSet presAssocID="{F2B756C0-90A7-FE42-94DD-1E9FDED56C39}" presName="Name0" presStyleCnt="0">
        <dgm:presLayoutVars>
          <dgm:dir/>
          <dgm:animLvl val="lvl"/>
          <dgm:resizeHandles val="exact"/>
        </dgm:presLayoutVars>
      </dgm:prSet>
      <dgm:spPr/>
    </dgm:pt>
    <dgm:pt modelId="{FC451275-6B65-B844-B900-B5F49A9DE8C7}" type="pres">
      <dgm:prSet presAssocID="{B7CC0CE9-1C2A-7F4E-98D7-88BDF13AABFF}" presName="composite" presStyleCnt="0"/>
      <dgm:spPr/>
    </dgm:pt>
    <dgm:pt modelId="{DFB03683-871A-8B4F-9D74-DB79B42637FF}" type="pres">
      <dgm:prSet presAssocID="{B7CC0CE9-1C2A-7F4E-98D7-88BDF13AABF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D61D7A2-1D33-3048-B527-2A264CE2E217}" type="pres">
      <dgm:prSet presAssocID="{B7CC0CE9-1C2A-7F4E-98D7-88BDF13AABFF}" presName="desTx" presStyleLbl="alignAccFollowNode1" presStyleIdx="0" presStyleCnt="2">
        <dgm:presLayoutVars>
          <dgm:bulletEnabled val="1"/>
        </dgm:presLayoutVars>
      </dgm:prSet>
      <dgm:spPr/>
    </dgm:pt>
    <dgm:pt modelId="{32BF1A00-8ACC-3A49-A46F-FF95F71FABDE}" type="pres">
      <dgm:prSet presAssocID="{E7916727-EB20-854A-BAC7-E91F997B7071}" presName="space" presStyleCnt="0"/>
      <dgm:spPr/>
    </dgm:pt>
    <dgm:pt modelId="{EEAE9CDB-EDF8-E445-841B-129B57834343}" type="pres">
      <dgm:prSet presAssocID="{1DFCC922-4757-3940-90A7-CBFC394AEAA4}" presName="composite" presStyleCnt="0"/>
      <dgm:spPr/>
    </dgm:pt>
    <dgm:pt modelId="{AC4100C4-2F98-FF47-8FE5-B9692FD4A203}" type="pres">
      <dgm:prSet presAssocID="{1DFCC922-4757-3940-90A7-CBFC394AEAA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8A656A7-0D67-ED40-A15A-6C93A57FB80B}" type="pres">
      <dgm:prSet presAssocID="{1DFCC922-4757-3940-90A7-CBFC394AEAA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F02F40D-AE32-E642-8A90-DF5AD84135DD}" type="presOf" srcId="{1DFCC922-4757-3940-90A7-CBFC394AEAA4}" destId="{AC4100C4-2F98-FF47-8FE5-B9692FD4A203}" srcOrd="0" destOrd="0" presId="urn:microsoft.com/office/officeart/2005/8/layout/hList1"/>
    <dgm:cxn modelId="{F845BA19-60B5-3A45-A1F8-D548D5ADFF57}" srcId="{F2B756C0-90A7-FE42-94DD-1E9FDED56C39}" destId="{B7CC0CE9-1C2A-7F4E-98D7-88BDF13AABFF}" srcOrd="0" destOrd="0" parTransId="{72CECA36-0752-F142-962E-679A9108A4E4}" sibTransId="{E7916727-EB20-854A-BAC7-E91F997B7071}"/>
    <dgm:cxn modelId="{F4ACCD1E-49B2-FA4C-B905-E6C26953864D}" srcId="{B7CC0CE9-1C2A-7F4E-98D7-88BDF13AABFF}" destId="{073DDB68-4673-2A42-AF2F-51A544003A9E}" srcOrd="2" destOrd="0" parTransId="{486288EA-CA91-4048-81AE-2363816B35F5}" sibTransId="{F7D1E604-E738-E04C-80D7-244584DDC793}"/>
    <dgm:cxn modelId="{5DEAF740-A0CB-C241-A775-DBEAF52AFC08}" type="presOf" srcId="{70AE22FC-DFF7-7E49-8393-6ED4E3611E1D}" destId="{78A656A7-0D67-ED40-A15A-6C93A57FB80B}" srcOrd="0" destOrd="2" presId="urn:microsoft.com/office/officeart/2005/8/layout/hList1"/>
    <dgm:cxn modelId="{56BA8841-B982-0640-998F-8AAF65D503D9}" type="presOf" srcId="{F3CBA2B5-E4CB-0E4C-B3E7-19961DA59F6C}" destId="{4D61D7A2-1D33-3048-B527-2A264CE2E217}" srcOrd="0" destOrd="0" presId="urn:microsoft.com/office/officeart/2005/8/layout/hList1"/>
    <dgm:cxn modelId="{A3F0D462-88BC-AE4D-A3B5-D609FA691C97}" type="presOf" srcId="{A10CBF4D-A210-FD46-B1DB-424B24FA94F3}" destId="{78A656A7-0D67-ED40-A15A-6C93A57FB80B}" srcOrd="0" destOrd="0" presId="urn:microsoft.com/office/officeart/2005/8/layout/hList1"/>
    <dgm:cxn modelId="{AD15B863-2A75-9B43-8DCA-6EAB015365F8}" type="presOf" srcId="{B7CC0CE9-1C2A-7F4E-98D7-88BDF13AABFF}" destId="{DFB03683-871A-8B4F-9D74-DB79B42637FF}" srcOrd="0" destOrd="0" presId="urn:microsoft.com/office/officeart/2005/8/layout/hList1"/>
    <dgm:cxn modelId="{33F5404A-3DB2-CA41-90AA-F8B730698E65}" type="presOf" srcId="{F2B756C0-90A7-FE42-94DD-1E9FDED56C39}" destId="{00A90990-93A6-A841-89A8-BF7F7FF25629}" srcOrd="0" destOrd="0" presId="urn:microsoft.com/office/officeart/2005/8/layout/hList1"/>
    <dgm:cxn modelId="{00F9AA4F-AD13-0F4C-80DA-FAC6C0712936}" type="presOf" srcId="{6B6C0695-D8BC-5B49-AD4E-335243FFC7C4}" destId="{4D61D7A2-1D33-3048-B527-2A264CE2E217}" srcOrd="0" destOrd="1" presId="urn:microsoft.com/office/officeart/2005/8/layout/hList1"/>
    <dgm:cxn modelId="{1ACD0757-F26D-AB46-AD61-810672684DB8}" srcId="{1DFCC922-4757-3940-90A7-CBFC394AEAA4}" destId="{A10CBF4D-A210-FD46-B1DB-424B24FA94F3}" srcOrd="0" destOrd="0" parTransId="{8F892F8E-3D9B-E140-B813-4ACB823BB864}" sibTransId="{FAFE45D4-92B3-AF44-A503-655496CE3868}"/>
    <dgm:cxn modelId="{ECF4B580-7781-7546-85A0-2E5A57C2BB8D}" srcId="{B7CC0CE9-1C2A-7F4E-98D7-88BDF13AABFF}" destId="{F3CBA2B5-E4CB-0E4C-B3E7-19961DA59F6C}" srcOrd="0" destOrd="0" parTransId="{C5B415DF-7218-0149-9141-13135CD8D258}" sibTransId="{401B202B-EDEC-6D44-B055-AC12214B7E64}"/>
    <dgm:cxn modelId="{222141BF-1810-3548-BCA6-EB89DC47D02D}" srcId="{F2B756C0-90A7-FE42-94DD-1E9FDED56C39}" destId="{1DFCC922-4757-3940-90A7-CBFC394AEAA4}" srcOrd="1" destOrd="0" parTransId="{12800E7B-B1D6-BE47-B07A-76A6F4B9142B}" sibTransId="{20BBC49D-11D5-E140-9591-630C81DA9264}"/>
    <dgm:cxn modelId="{28EB4ACE-3BF2-CA45-BF22-AFF3823A4DEA}" type="presOf" srcId="{073DDB68-4673-2A42-AF2F-51A544003A9E}" destId="{4D61D7A2-1D33-3048-B527-2A264CE2E217}" srcOrd="0" destOrd="2" presId="urn:microsoft.com/office/officeart/2005/8/layout/hList1"/>
    <dgm:cxn modelId="{94ECE3EA-60D1-9E41-9EEC-3D71DB2DC0B8}" srcId="{B7CC0CE9-1C2A-7F4E-98D7-88BDF13AABFF}" destId="{6B6C0695-D8BC-5B49-AD4E-335243FFC7C4}" srcOrd="1" destOrd="0" parTransId="{388A05B0-FFE5-9540-A0FF-FE8C3C75AF64}" sibTransId="{2D49A1B4-F2EA-6949-AB48-50F98D11BD4D}"/>
    <dgm:cxn modelId="{22B5E9F6-77BC-D942-A126-DED9F6912E99}" srcId="{1DFCC922-4757-3940-90A7-CBFC394AEAA4}" destId="{70AE22FC-DFF7-7E49-8393-6ED4E3611E1D}" srcOrd="2" destOrd="0" parTransId="{70978955-4AB1-1B4D-990C-F052DE0302DB}" sibTransId="{AC303A64-6F6D-8C49-BC66-20884AF4D9CA}"/>
    <dgm:cxn modelId="{46CBFAF6-2FF6-CC4B-985C-AED0E51163A7}" srcId="{1DFCC922-4757-3940-90A7-CBFC394AEAA4}" destId="{60F89291-AB07-C344-9E89-2875B9B8477B}" srcOrd="1" destOrd="0" parTransId="{C7E8214E-1956-F642-8DC2-A57259CC5E46}" sibTransId="{BEFCD586-C062-6143-869D-D9D9C0F09102}"/>
    <dgm:cxn modelId="{9ED690FE-D333-2B41-B38D-B1758182C80D}" type="presOf" srcId="{60F89291-AB07-C344-9E89-2875B9B8477B}" destId="{78A656A7-0D67-ED40-A15A-6C93A57FB80B}" srcOrd="0" destOrd="1" presId="urn:microsoft.com/office/officeart/2005/8/layout/hList1"/>
    <dgm:cxn modelId="{9E35561D-4FCE-BF4C-8A96-CC256C0A6C63}" type="presParOf" srcId="{00A90990-93A6-A841-89A8-BF7F7FF25629}" destId="{FC451275-6B65-B844-B900-B5F49A9DE8C7}" srcOrd="0" destOrd="0" presId="urn:microsoft.com/office/officeart/2005/8/layout/hList1"/>
    <dgm:cxn modelId="{E9504951-1865-054E-BDEF-F50DEDDA23D1}" type="presParOf" srcId="{FC451275-6B65-B844-B900-B5F49A9DE8C7}" destId="{DFB03683-871A-8B4F-9D74-DB79B42637FF}" srcOrd="0" destOrd="0" presId="urn:microsoft.com/office/officeart/2005/8/layout/hList1"/>
    <dgm:cxn modelId="{97555F0E-9827-4240-8874-B879FC939632}" type="presParOf" srcId="{FC451275-6B65-B844-B900-B5F49A9DE8C7}" destId="{4D61D7A2-1D33-3048-B527-2A264CE2E217}" srcOrd="1" destOrd="0" presId="urn:microsoft.com/office/officeart/2005/8/layout/hList1"/>
    <dgm:cxn modelId="{1413F14B-FAB3-984D-89D8-EE66EBAF108D}" type="presParOf" srcId="{00A90990-93A6-A841-89A8-BF7F7FF25629}" destId="{32BF1A00-8ACC-3A49-A46F-FF95F71FABDE}" srcOrd="1" destOrd="0" presId="urn:microsoft.com/office/officeart/2005/8/layout/hList1"/>
    <dgm:cxn modelId="{16013051-64C8-9944-81D0-BF9F2B54DDD7}" type="presParOf" srcId="{00A90990-93A6-A841-89A8-BF7F7FF25629}" destId="{EEAE9CDB-EDF8-E445-841B-129B57834343}" srcOrd="2" destOrd="0" presId="urn:microsoft.com/office/officeart/2005/8/layout/hList1"/>
    <dgm:cxn modelId="{251DC271-F2C0-A546-AD34-C29350077262}" type="presParOf" srcId="{EEAE9CDB-EDF8-E445-841B-129B57834343}" destId="{AC4100C4-2F98-FF47-8FE5-B9692FD4A203}" srcOrd="0" destOrd="0" presId="urn:microsoft.com/office/officeart/2005/8/layout/hList1"/>
    <dgm:cxn modelId="{EFAE1071-158F-864D-BA5C-FB64085142D6}" type="presParOf" srcId="{EEAE9CDB-EDF8-E445-841B-129B57834343}" destId="{78A656A7-0D67-ED40-A15A-6C93A57FB8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15D569-0077-744F-A506-4E00D23BC98E}" type="doc">
      <dgm:prSet loTypeId="urn:microsoft.com/office/officeart/2005/8/layout/hList1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26674AF2-D6DC-4C45-8894-BBE7FB8CBFC1}">
      <dgm:prSet/>
      <dgm:spPr/>
      <dgm:t>
        <a:bodyPr/>
        <a:lstStyle/>
        <a:p>
          <a:r>
            <a:rPr lang="en-US" b="1" dirty="0"/>
            <a:t>September 2024</a:t>
          </a:r>
          <a:endParaRPr lang="en-CA" b="1" dirty="0"/>
        </a:p>
      </dgm:t>
    </dgm:pt>
    <dgm:pt modelId="{871126F5-255C-0643-8EC1-A4C342F05461}" type="parTrans" cxnId="{127E7097-5135-3D4A-B8F2-8880CD3EE756}">
      <dgm:prSet/>
      <dgm:spPr/>
      <dgm:t>
        <a:bodyPr/>
        <a:lstStyle/>
        <a:p>
          <a:endParaRPr lang="en-US"/>
        </a:p>
      </dgm:t>
    </dgm:pt>
    <dgm:pt modelId="{DCAE5ECA-F682-2649-A68B-1C9D95C682C6}" type="sibTrans" cxnId="{127E7097-5135-3D4A-B8F2-8880CD3EE756}">
      <dgm:prSet/>
      <dgm:spPr/>
      <dgm:t>
        <a:bodyPr/>
        <a:lstStyle/>
        <a:p>
          <a:endParaRPr lang="en-US"/>
        </a:p>
      </dgm:t>
    </dgm:pt>
    <dgm:pt modelId="{8E4B70A2-53A5-BF40-A65F-72E00F1035D9}">
      <dgm:prSet/>
      <dgm:spPr/>
      <dgm:t>
        <a:bodyPr/>
        <a:lstStyle/>
        <a:p>
          <a:r>
            <a:rPr lang="en-US" dirty="0"/>
            <a:t>Production is slightly lower than normal</a:t>
          </a:r>
          <a:endParaRPr lang="en-CA" dirty="0"/>
        </a:p>
      </dgm:t>
    </dgm:pt>
    <dgm:pt modelId="{FEA61B22-B6DE-0144-8A98-E35FF177380F}" type="parTrans" cxnId="{9198EE02-5F86-6A4A-BE3D-8DF78AF87ECE}">
      <dgm:prSet/>
      <dgm:spPr/>
      <dgm:t>
        <a:bodyPr/>
        <a:lstStyle/>
        <a:p>
          <a:endParaRPr lang="en-US"/>
        </a:p>
      </dgm:t>
    </dgm:pt>
    <dgm:pt modelId="{80BE9EA8-71AD-E64E-8A8A-4AAF6A3EC69D}" type="sibTrans" cxnId="{9198EE02-5F86-6A4A-BE3D-8DF78AF87ECE}">
      <dgm:prSet/>
      <dgm:spPr/>
      <dgm:t>
        <a:bodyPr/>
        <a:lstStyle/>
        <a:p>
          <a:endParaRPr lang="en-US"/>
        </a:p>
      </dgm:t>
    </dgm:pt>
    <dgm:pt modelId="{A28CCD9E-4BD2-874C-ACD5-CEB910284097}">
      <dgm:prSet/>
      <dgm:spPr/>
      <dgm:t>
        <a:bodyPr/>
        <a:lstStyle/>
        <a:p>
          <a:r>
            <a:rPr lang="en-US"/>
            <a:t>Peak Intensity -13%</a:t>
          </a:r>
          <a:endParaRPr lang="en-CA"/>
        </a:p>
      </dgm:t>
    </dgm:pt>
    <dgm:pt modelId="{752680F8-1439-1D4A-B6E5-B96BAE55F7E6}" type="parTrans" cxnId="{26161268-5DE7-CF4C-9742-E8271EA71D78}">
      <dgm:prSet/>
      <dgm:spPr/>
      <dgm:t>
        <a:bodyPr/>
        <a:lstStyle/>
        <a:p>
          <a:endParaRPr lang="en-US"/>
        </a:p>
      </dgm:t>
    </dgm:pt>
    <dgm:pt modelId="{CED914CE-82CC-1549-94D8-550BFB9D00A2}" type="sibTrans" cxnId="{26161268-5DE7-CF4C-9742-E8271EA71D78}">
      <dgm:prSet/>
      <dgm:spPr/>
      <dgm:t>
        <a:bodyPr/>
        <a:lstStyle/>
        <a:p>
          <a:endParaRPr lang="en-US"/>
        </a:p>
      </dgm:t>
    </dgm:pt>
    <dgm:pt modelId="{7C6D69AE-87FA-7B47-8750-8E6B25F97757}">
      <dgm:prSet/>
      <dgm:spPr/>
      <dgm:t>
        <a:bodyPr/>
        <a:lstStyle/>
        <a:p>
          <a:r>
            <a:rPr lang="en-US"/>
            <a:t>Smooth operational month</a:t>
          </a:r>
          <a:endParaRPr lang="en-CA"/>
        </a:p>
      </dgm:t>
    </dgm:pt>
    <dgm:pt modelId="{4A863782-09A0-AC4A-8794-E28CD84FE9A6}" type="parTrans" cxnId="{551102C8-12AB-DF42-B70B-10D04BE615BA}">
      <dgm:prSet/>
      <dgm:spPr/>
      <dgm:t>
        <a:bodyPr/>
        <a:lstStyle/>
        <a:p>
          <a:endParaRPr lang="en-US"/>
        </a:p>
      </dgm:t>
    </dgm:pt>
    <dgm:pt modelId="{EC9596B4-2D45-594B-AA65-3D6CA9B435C2}" type="sibTrans" cxnId="{551102C8-12AB-DF42-B70B-10D04BE615BA}">
      <dgm:prSet/>
      <dgm:spPr/>
      <dgm:t>
        <a:bodyPr/>
        <a:lstStyle/>
        <a:p>
          <a:endParaRPr lang="en-US"/>
        </a:p>
      </dgm:t>
    </dgm:pt>
    <dgm:pt modelId="{338A2B1B-1A4F-B64D-95C5-1537105A74D6}">
      <dgm:prSet/>
      <dgm:spPr/>
      <dgm:t>
        <a:bodyPr/>
        <a:lstStyle/>
        <a:p>
          <a:r>
            <a:rPr lang="en-US"/>
            <a:t>Lower demand pressure</a:t>
          </a:r>
          <a:endParaRPr lang="en-CA"/>
        </a:p>
      </dgm:t>
    </dgm:pt>
    <dgm:pt modelId="{48F21102-BF78-734E-B120-14EC14E55886}" type="parTrans" cxnId="{A6AE4314-C838-4043-99F6-8AB0F3DD133D}">
      <dgm:prSet/>
      <dgm:spPr/>
      <dgm:t>
        <a:bodyPr/>
        <a:lstStyle/>
        <a:p>
          <a:endParaRPr lang="en-US"/>
        </a:p>
      </dgm:t>
    </dgm:pt>
    <dgm:pt modelId="{EEDAA488-25FA-C942-B2D9-2EA4F90EE701}" type="sibTrans" cxnId="{A6AE4314-C838-4043-99F6-8AB0F3DD133D}">
      <dgm:prSet/>
      <dgm:spPr/>
      <dgm:t>
        <a:bodyPr/>
        <a:lstStyle/>
        <a:p>
          <a:endParaRPr lang="en-US"/>
        </a:p>
      </dgm:t>
    </dgm:pt>
    <dgm:pt modelId="{C3C6052E-44D2-B647-A966-C36DA78D27B8}">
      <dgm:prSet/>
      <dgm:spPr/>
      <dgm:t>
        <a:bodyPr/>
        <a:lstStyle/>
        <a:p>
          <a:r>
            <a:rPr lang="en-US" b="1" dirty="0"/>
            <a:t>January 2025</a:t>
          </a:r>
          <a:endParaRPr lang="en-CA" b="1" dirty="0"/>
        </a:p>
      </dgm:t>
    </dgm:pt>
    <dgm:pt modelId="{CA2EB3BE-F00E-B340-92CB-767EB53AFD8C}" type="parTrans" cxnId="{FBEA8B31-D90B-CC42-8CF4-69A9A6D07D07}">
      <dgm:prSet/>
      <dgm:spPr/>
      <dgm:t>
        <a:bodyPr/>
        <a:lstStyle/>
        <a:p>
          <a:endParaRPr lang="en-US"/>
        </a:p>
      </dgm:t>
    </dgm:pt>
    <dgm:pt modelId="{4D2F539B-3223-9F46-ABE8-94826B291D27}" type="sibTrans" cxnId="{FBEA8B31-D90B-CC42-8CF4-69A9A6D07D07}">
      <dgm:prSet/>
      <dgm:spPr/>
      <dgm:t>
        <a:bodyPr/>
        <a:lstStyle/>
        <a:p>
          <a:endParaRPr lang="en-US"/>
        </a:p>
      </dgm:t>
    </dgm:pt>
    <dgm:pt modelId="{837FB7BD-FB24-EC46-839C-ADE922E7EF50}">
      <dgm:prSet/>
      <dgm:spPr/>
      <dgm:t>
        <a:bodyPr/>
        <a:lstStyle/>
        <a:p>
          <a:r>
            <a:rPr lang="en-US"/>
            <a:t>Production stable</a:t>
          </a:r>
          <a:endParaRPr lang="en-CA"/>
        </a:p>
      </dgm:t>
    </dgm:pt>
    <dgm:pt modelId="{91B58D69-B83C-F940-88FD-2C34CA0AF799}" type="parTrans" cxnId="{9EB67B70-E928-954A-A5E6-E97D8368C731}">
      <dgm:prSet/>
      <dgm:spPr/>
      <dgm:t>
        <a:bodyPr/>
        <a:lstStyle/>
        <a:p>
          <a:endParaRPr lang="en-US"/>
        </a:p>
      </dgm:t>
    </dgm:pt>
    <dgm:pt modelId="{F1940AA3-6D3C-7142-9360-9B5E4776C069}" type="sibTrans" cxnId="{9EB67B70-E928-954A-A5E6-E97D8368C731}">
      <dgm:prSet/>
      <dgm:spPr/>
      <dgm:t>
        <a:bodyPr/>
        <a:lstStyle/>
        <a:p>
          <a:endParaRPr lang="en-US"/>
        </a:p>
      </dgm:t>
    </dgm:pt>
    <dgm:pt modelId="{9E573FFE-19DC-1745-8FB2-0825A3F9AF5F}">
      <dgm:prSet/>
      <dgm:spPr/>
      <dgm:t>
        <a:bodyPr/>
        <a:lstStyle/>
        <a:p>
          <a:r>
            <a:rPr lang="en-US"/>
            <a:t>Peak intensity -16%</a:t>
          </a:r>
          <a:endParaRPr lang="en-CA"/>
        </a:p>
      </dgm:t>
    </dgm:pt>
    <dgm:pt modelId="{8359E6AA-5043-E645-BAC7-D33048FBA713}" type="parTrans" cxnId="{DD1C4640-3AC8-C342-BD65-A1CDB8A6837C}">
      <dgm:prSet/>
      <dgm:spPr/>
      <dgm:t>
        <a:bodyPr/>
        <a:lstStyle/>
        <a:p>
          <a:endParaRPr lang="en-US"/>
        </a:p>
      </dgm:t>
    </dgm:pt>
    <dgm:pt modelId="{0097E158-4A79-5B41-9F5D-2BCB380C7034}" type="sibTrans" cxnId="{DD1C4640-3AC8-C342-BD65-A1CDB8A6837C}">
      <dgm:prSet/>
      <dgm:spPr/>
      <dgm:t>
        <a:bodyPr/>
        <a:lstStyle/>
        <a:p>
          <a:endParaRPr lang="en-US"/>
        </a:p>
      </dgm:t>
    </dgm:pt>
    <dgm:pt modelId="{89006ADE-C0C0-3C47-94F7-989365DC93E4}">
      <dgm:prSet/>
      <dgm:spPr/>
      <dgm:t>
        <a:bodyPr/>
        <a:lstStyle/>
        <a:p>
          <a:r>
            <a:rPr lang="en-US" b="1" dirty="0"/>
            <a:t>April 2025</a:t>
          </a:r>
          <a:endParaRPr lang="en-CA" b="1" dirty="0"/>
        </a:p>
      </dgm:t>
    </dgm:pt>
    <dgm:pt modelId="{599532F9-483C-E84C-9282-BF2BAD2FCF01}" type="parTrans" cxnId="{E6C0C90E-C2C8-3B48-B914-4F11CB07875C}">
      <dgm:prSet/>
      <dgm:spPr/>
      <dgm:t>
        <a:bodyPr/>
        <a:lstStyle/>
        <a:p>
          <a:endParaRPr lang="en-US"/>
        </a:p>
      </dgm:t>
    </dgm:pt>
    <dgm:pt modelId="{6635F786-BD8B-6043-A8A0-DC3C5AB88121}" type="sibTrans" cxnId="{E6C0C90E-C2C8-3B48-B914-4F11CB07875C}">
      <dgm:prSet/>
      <dgm:spPr/>
      <dgm:t>
        <a:bodyPr/>
        <a:lstStyle/>
        <a:p>
          <a:endParaRPr lang="en-US"/>
        </a:p>
      </dgm:t>
    </dgm:pt>
    <dgm:pt modelId="{245A0851-E43F-2542-8876-5242018B335D}">
      <dgm:prSet/>
      <dgm:spPr/>
      <dgm:t>
        <a:bodyPr/>
        <a:lstStyle/>
        <a:p>
          <a:r>
            <a:rPr lang="en-US"/>
            <a:t>Production compressed (+12%)</a:t>
          </a:r>
          <a:endParaRPr lang="en-CA"/>
        </a:p>
      </dgm:t>
    </dgm:pt>
    <dgm:pt modelId="{E11B15CA-E1D0-D14E-B3C4-2A6F400FA9A7}" type="parTrans" cxnId="{1F4C78B1-C498-7644-816E-A72B0F88B4A2}">
      <dgm:prSet/>
      <dgm:spPr/>
      <dgm:t>
        <a:bodyPr/>
        <a:lstStyle/>
        <a:p>
          <a:endParaRPr lang="en-US"/>
        </a:p>
      </dgm:t>
    </dgm:pt>
    <dgm:pt modelId="{4A43FAC7-F51E-BF43-BFC7-547F6231B541}" type="sibTrans" cxnId="{1F4C78B1-C498-7644-816E-A72B0F88B4A2}">
      <dgm:prSet/>
      <dgm:spPr/>
      <dgm:t>
        <a:bodyPr/>
        <a:lstStyle/>
        <a:p>
          <a:endParaRPr lang="en-US"/>
        </a:p>
      </dgm:t>
    </dgm:pt>
    <dgm:pt modelId="{CAD3432B-5A8B-8E4A-9746-644A1BCC241E}">
      <dgm:prSet/>
      <dgm:spPr/>
      <dgm:t>
        <a:bodyPr/>
        <a:lstStyle/>
        <a:p>
          <a:r>
            <a:rPr lang="en-US"/>
            <a:t>Peak stable</a:t>
          </a:r>
          <a:endParaRPr lang="en-CA"/>
        </a:p>
      </dgm:t>
    </dgm:pt>
    <dgm:pt modelId="{BE35F611-8430-EF48-A74C-53CE9A39A96C}" type="parTrans" cxnId="{B4550286-FDD5-9641-834A-61681DBF9E5C}">
      <dgm:prSet/>
      <dgm:spPr/>
      <dgm:t>
        <a:bodyPr/>
        <a:lstStyle/>
        <a:p>
          <a:endParaRPr lang="en-US"/>
        </a:p>
      </dgm:t>
    </dgm:pt>
    <dgm:pt modelId="{C9B0C513-E186-D74E-900D-63FB61B5D1F5}" type="sibTrans" cxnId="{B4550286-FDD5-9641-834A-61681DBF9E5C}">
      <dgm:prSet/>
      <dgm:spPr/>
      <dgm:t>
        <a:bodyPr/>
        <a:lstStyle/>
        <a:p>
          <a:endParaRPr lang="en-US"/>
        </a:p>
      </dgm:t>
    </dgm:pt>
    <dgm:pt modelId="{A7709883-1AEA-9844-BC3E-E9DDBC34A080}">
      <dgm:prSet/>
      <dgm:spPr/>
      <dgm:t>
        <a:bodyPr/>
        <a:lstStyle/>
        <a:p>
          <a:r>
            <a:rPr lang="en-US"/>
            <a:t>Higher throughput without demand spike</a:t>
          </a:r>
          <a:endParaRPr lang="en-CA"/>
        </a:p>
      </dgm:t>
    </dgm:pt>
    <dgm:pt modelId="{565A4AC8-9CE4-A94F-AEA8-B1D0F0F34909}" type="parTrans" cxnId="{F5E22196-D744-004C-BFD3-CE5BAC4AB30E}">
      <dgm:prSet/>
      <dgm:spPr/>
      <dgm:t>
        <a:bodyPr/>
        <a:lstStyle/>
        <a:p>
          <a:endParaRPr lang="en-US"/>
        </a:p>
      </dgm:t>
    </dgm:pt>
    <dgm:pt modelId="{D12D96B4-297A-B443-BE8E-9CD3C5DF5345}" type="sibTrans" cxnId="{F5E22196-D744-004C-BFD3-CE5BAC4AB30E}">
      <dgm:prSet/>
      <dgm:spPr/>
      <dgm:t>
        <a:bodyPr/>
        <a:lstStyle/>
        <a:p>
          <a:endParaRPr lang="en-US"/>
        </a:p>
      </dgm:t>
    </dgm:pt>
    <dgm:pt modelId="{231B928E-A797-8A45-87B3-35F9AACD8434}">
      <dgm:prSet/>
      <dgm:spPr/>
      <dgm:t>
        <a:bodyPr/>
        <a:lstStyle/>
        <a:p>
          <a:r>
            <a:rPr lang="en-US"/>
            <a:t>Operational inefficiency improvement</a:t>
          </a:r>
          <a:endParaRPr lang="en-CA"/>
        </a:p>
      </dgm:t>
    </dgm:pt>
    <dgm:pt modelId="{20C93238-18F9-6248-B87B-B7775D0CDBBD}" type="parTrans" cxnId="{5B9D7E1A-7107-684C-A4A9-68963F445602}">
      <dgm:prSet/>
      <dgm:spPr/>
      <dgm:t>
        <a:bodyPr/>
        <a:lstStyle/>
        <a:p>
          <a:endParaRPr lang="en-US"/>
        </a:p>
      </dgm:t>
    </dgm:pt>
    <dgm:pt modelId="{95CABD79-F73B-A740-8535-61E9A46FF961}" type="sibTrans" cxnId="{5B9D7E1A-7107-684C-A4A9-68963F445602}">
      <dgm:prSet/>
      <dgm:spPr/>
      <dgm:t>
        <a:bodyPr/>
        <a:lstStyle/>
        <a:p>
          <a:endParaRPr lang="en-US"/>
        </a:p>
      </dgm:t>
    </dgm:pt>
    <dgm:pt modelId="{4177D56F-3ED1-4243-8129-31A9807D5824}">
      <dgm:prSet/>
      <dgm:spPr/>
      <dgm:t>
        <a:bodyPr/>
        <a:lstStyle/>
        <a:p>
          <a:r>
            <a:rPr lang="en-US" b="1" dirty="0"/>
            <a:t>May 2025</a:t>
          </a:r>
          <a:endParaRPr lang="en-CA" b="1" dirty="0"/>
        </a:p>
      </dgm:t>
    </dgm:pt>
    <dgm:pt modelId="{170F5046-3514-5944-9F88-982EAF1DEAAA}" type="parTrans" cxnId="{E837E1B1-4D0E-144D-9A72-71FDF86A6350}">
      <dgm:prSet/>
      <dgm:spPr/>
      <dgm:t>
        <a:bodyPr/>
        <a:lstStyle/>
        <a:p>
          <a:endParaRPr lang="en-US"/>
        </a:p>
      </dgm:t>
    </dgm:pt>
    <dgm:pt modelId="{17D32664-FF6F-FC48-8801-C16266D05DC0}" type="sibTrans" cxnId="{E837E1B1-4D0E-144D-9A72-71FDF86A6350}">
      <dgm:prSet/>
      <dgm:spPr/>
      <dgm:t>
        <a:bodyPr/>
        <a:lstStyle/>
        <a:p>
          <a:endParaRPr lang="en-US"/>
        </a:p>
      </dgm:t>
    </dgm:pt>
    <dgm:pt modelId="{E8EC15DB-1E94-D541-A2CD-B04FA2078734}">
      <dgm:prSet/>
      <dgm:spPr/>
      <dgm:t>
        <a:bodyPr/>
        <a:lstStyle/>
        <a:p>
          <a:r>
            <a:rPr lang="en-US" dirty="0"/>
            <a:t>Production slightly increased</a:t>
          </a:r>
          <a:endParaRPr lang="en-CA" dirty="0"/>
        </a:p>
      </dgm:t>
    </dgm:pt>
    <dgm:pt modelId="{70C3CF92-6B85-874D-98CE-7C474E76935B}" type="parTrans" cxnId="{FEBB42D2-960E-F24B-9E4B-BE759A520FBD}">
      <dgm:prSet/>
      <dgm:spPr/>
      <dgm:t>
        <a:bodyPr/>
        <a:lstStyle/>
        <a:p>
          <a:endParaRPr lang="en-US"/>
        </a:p>
      </dgm:t>
    </dgm:pt>
    <dgm:pt modelId="{25FF79BB-FF48-344C-BC4A-1AF6A7343C0F}" type="sibTrans" cxnId="{FEBB42D2-960E-F24B-9E4B-BE759A520FBD}">
      <dgm:prSet/>
      <dgm:spPr/>
      <dgm:t>
        <a:bodyPr/>
        <a:lstStyle/>
        <a:p>
          <a:endParaRPr lang="en-US"/>
        </a:p>
      </dgm:t>
    </dgm:pt>
    <dgm:pt modelId="{980F957C-093D-3443-8253-53B535424ECE}">
      <dgm:prSet/>
      <dgm:spPr/>
      <dgm:t>
        <a:bodyPr/>
        <a:lstStyle/>
        <a:p>
          <a:r>
            <a:rPr lang="en-US"/>
            <a:t>Peak is controlled</a:t>
          </a:r>
          <a:endParaRPr lang="en-CA"/>
        </a:p>
      </dgm:t>
    </dgm:pt>
    <dgm:pt modelId="{56E41ABD-FD29-9340-82FC-E265E5D7DBF7}" type="parTrans" cxnId="{3C947B85-3CB4-8A48-995E-EC043645AA70}">
      <dgm:prSet/>
      <dgm:spPr/>
      <dgm:t>
        <a:bodyPr/>
        <a:lstStyle/>
        <a:p>
          <a:endParaRPr lang="en-US"/>
        </a:p>
      </dgm:t>
    </dgm:pt>
    <dgm:pt modelId="{1B503292-3767-0A4E-901E-43151240C917}" type="sibTrans" cxnId="{3C947B85-3CB4-8A48-995E-EC043645AA70}">
      <dgm:prSet/>
      <dgm:spPr/>
      <dgm:t>
        <a:bodyPr/>
        <a:lstStyle/>
        <a:p>
          <a:endParaRPr lang="en-US"/>
        </a:p>
      </dgm:t>
    </dgm:pt>
    <dgm:pt modelId="{A2A00BC7-354F-2943-8087-49C8DA14F8B0}" type="pres">
      <dgm:prSet presAssocID="{9415D569-0077-744F-A506-4E00D23BC98E}" presName="Name0" presStyleCnt="0">
        <dgm:presLayoutVars>
          <dgm:dir/>
          <dgm:animLvl val="lvl"/>
          <dgm:resizeHandles val="exact"/>
        </dgm:presLayoutVars>
      </dgm:prSet>
      <dgm:spPr/>
    </dgm:pt>
    <dgm:pt modelId="{4ACC83AC-C041-CB47-ADC3-CCA152B72ACD}" type="pres">
      <dgm:prSet presAssocID="{26674AF2-D6DC-4C45-8894-BBE7FB8CBFC1}" presName="composite" presStyleCnt="0"/>
      <dgm:spPr/>
    </dgm:pt>
    <dgm:pt modelId="{7EB9B580-7886-7443-B914-136CD919DAEE}" type="pres">
      <dgm:prSet presAssocID="{26674AF2-D6DC-4C45-8894-BBE7FB8CBFC1}" presName="parTx" presStyleLbl="alignNode1" presStyleIdx="0" presStyleCnt="4" custLinFactNeighborX="-1932" custLinFactNeighborY="-40794">
        <dgm:presLayoutVars>
          <dgm:chMax val="0"/>
          <dgm:chPref val="0"/>
          <dgm:bulletEnabled val="1"/>
        </dgm:presLayoutVars>
      </dgm:prSet>
      <dgm:spPr/>
    </dgm:pt>
    <dgm:pt modelId="{7DD86DB1-D96E-C849-8E2C-A0218CCCEBE4}" type="pres">
      <dgm:prSet presAssocID="{26674AF2-D6DC-4C45-8894-BBE7FB8CBFC1}" presName="desTx" presStyleLbl="alignAccFollowNode1" presStyleIdx="0" presStyleCnt="4" custLinFactNeighborX="-3219" custLinFactNeighborY="-9438">
        <dgm:presLayoutVars>
          <dgm:bulletEnabled val="1"/>
        </dgm:presLayoutVars>
      </dgm:prSet>
      <dgm:spPr/>
    </dgm:pt>
    <dgm:pt modelId="{7FB73426-4478-EA46-97F5-5B24E01F8BE8}" type="pres">
      <dgm:prSet presAssocID="{DCAE5ECA-F682-2649-A68B-1C9D95C682C6}" presName="space" presStyleCnt="0"/>
      <dgm:spPr/>
    </dgm:pt>
    <dgm:pt modelId="{C9579AEF-4363-BF4F-9F3A-D32F4D626300}" type="pres">
      <dgm:prSet presAssocID="{C3C6052E-44D2-B647-A966-C36DA78D27B8}" presName="composite" presStyleCnt="0"/>
      <dgm:spPr/>
    </dgm:pt>
    <dgm:pt modelId="{9671CE39-B8C8-2447-B5AB-C35877CFBA90}" type="pres">
      <dgm:prSet presAssocID="{C3C6052E-44D2-B647-A966-C36DA78D27B8}" presName="parTx" presStyleLbl="alignNode1" presStyleIdx="1" presStyleCnt="4" custLinFactNeighborX="-2575" custLinFactNeighborY="-42426">
        <dgm:presLayoutVars>
          <dgm:chMax val="0"/>
          <dgm:chPref val="0"/>
          <dgm:bulletEnabled val="1"/>
        </dgm:presLayoutVars>
      </dgm:prSet>
      <dgm:spPr/>
    </dgm:pt>
    <dgm:pt modelId="{6EE06E43-23D9-9A4D-97C6-D805ADACADEB}" type="pres">
      <dgm:prSet presAssocID="{C3C6052E-44D2-B647-A966-C36DA78D27B8}" presName="desTx" presStyleLbl="alignAccFollowNode1" presStyleIdx="1" presStyleCnt="4" custLinFactNeighborX="-1932" custLinFactNeighborY="-9438">
        <dgm:presLayoutVars>
          <dgm:bulletEnabled val="1"/>
        </dgm:presLayoutVars>
      </dgm:prSet>
      <dgm:spPr/>
    </dgm:pt>
    <dgm:pt modelId="{2DAADC65-61D9-924B-8B78-FDE2652682A8}" type="pres">
      <dgm:prSet presAssocID="{4D2F539B-3223-9F46-ABE8-94826B291D27}" presName="space" presStyleCnt="0"/>
      <dgm:spPr/>
    </dgm:pt>
    <dgm:pt modelId="{AEF347C2-8EBC-7D4B-8719-2812C894AE07}" type="pres">
      <dgm:prSet presAssocID="{89006ADE-C0C0-3C47-94F7-989365DC93E4}" presName="composite" presStyleCnt="0"/>
      <dgm:spPr/>
    </dgm:pt>
    <dgm:pt modelId="{2A1D624F-4BB5-F94B-8AF4-607D989B12C6}" type="pres">
      <dgm:prSet presAssocID="{89006ADE-C0C0-3C47-94F7-989365DC93E4}" presName="parTx" presStyleLbl="alignNode1" presStyleIdx="2" presStyleCnt="4" custLinFactNeighborX="-1288" custLinFactNeighborY="-44057">
        <dgm:presLayoutVars>
          <dgm:chMax val="0"/>
          <dgm:chPref val="0"/>
          <dgm:bulletEnabled val="1"/>
        </dgm:presLayoutVars>
      </dgm:prSet>
      <dgm:spPr/>
    </dgm:pt>
    <dgm:pt modelId="{9095A06F-41AF-BE49-9673-0E8C99C61364}" type="pres">
      <dgm:prSet presAssocID="{89006ADE-C0C0-3C47-94F7-989365DC93E4}" presName="desTx" presStyleLbl="alignAccFollowNode1" presStyleIdx="2" presStyleCnt="4" custLinFactNeighborX="-1932" custLinFactNeighborY="-9438">
        <dgm:presLayoutVars>
          <dgm:bulletEnabled val="1"/>
        </dgm:presLayoutVars>
      </dgm:prSet>
      <dgm:spPr/>
    </dgm:pt>
    <dgm:pt modelId="{A6411D82-BD55-3E47-B372-A09D7363E89E}" type="pres">
      <dgm:prSet presAssocID="{6635F786-BD8B-6043-A8A0-DC3C5AB88121}" presName="space" presStyleCnt="0"/>
      <dgm:spPr/>
    </dgm:pt>
    <dgm:pt modelId="{4A9E7F1D-6301-1D46-8083-ED2206DDCC11}" type="pres">
      <dgm:prSet presAssocID="{4177D56F-3ED1-4243-8129-31A9807D5824}" presName="composite" presStyleCnt="0"/>
      <dgm:spPr/>
    </dgm:pt>
    <dgm:pt modelId="{D68D7B46-B91F-4B43-AB70-8DB0A6CACC24}" type="pres">
      <dgm:prSet presAssocID="{4177D56F-3ED1-4243-8129-31A9807D5824}" presName="parTx" presStyleLbl="alignNode1" presStyleIdx="3" presStyleCnt="4" custLinFactNeighborX="-2575" custLinFactNeighborY="-42426">
        <dgm:presLayoutVars>
          <dgm:chMax val="0"/>
          <dgm:chPref val="0"/>
          <dgm:bulletEnabled val="1"/>
        </dgm:presLayoutVars>
      </dgm:prSet>
      <dgm:spPr/>
    </dgm:pt>
    <dgm:pt modelId="{A43FEDD6-3BC3-F44A-89DD-74BE3EE7D739}" type="pres">
      <dgm:prSet presAssocID="{4177D56F-3ED1-4243-8129-31A9807D5824}" presName="desTx" presStyleLbl="alignAccFollowNode1" presStyleIdx="3" presStyleCnt="4" custLinFactNeighborX="-1932" custLinFactNeighborY="-9438">
        <dgm:presLayoutVars>
          <dgm:bulletEnabled val="1"/>
        </dgm:presLayoutVars>
      </dgm:prSet>
      <dgm:spPr/>
    </dgm:pt>
  </dgm:ptLst>
  <dgm:cxnLst>
    <dgm:cxn modelId="{9198EE02-5F86-6A4A-BE3D-8DF78AF87ECE}" srcId="{26674AF2-D6DC-4C45-8894-BBE7FB8CBFC1}" destId="{8E4B70A2-53A5-BF40-A65F-72E00F1035D9}" srcOrd="0" destOrd="0" parTransId="{FEA61B22-B6DE-0144-8A98-E35FF177380F}" sibTransId="{80BE9EA8-71AD-E64E-8A8A-4AAF6A3EC69D}"/>
    <dgm:cxn modelId="{23067E0B-8B51-EA47-8597-351DCEA54A1F}" type="presOf" srcId="{7C6D69AE-87FA-7B47-8750-8E6B25F97757}" destId="{7DD86DB1-D96E-C849-8E2C-A0218CCCEBE4}" srcOrd="0" destOrd="2" presId="urn:microsoft.com/office/officeart/2005/8/layout/hList1"/>
    <dgm:cxn modelId="{E6C0C90E-C2C8-3B48-B914-4F11CB07875C}" srcId="{9415D569-0077-744F-A506-4E00D23BC98E}" destId="{89006ADE-C0C0-3C47-94F7-989365DC93E4}" srcOrd="2" destOrd="0" parTransId="{599532F9-483C-E84C-9282-BF2BAD2FCF01}" sibTransId="{6635F786-BD8B-6043-A8A0-DC3C5AB88121}"/>
    <dgm:cxn modelId="{A6AE4314-C838-4043-99F6-8AB0F3DD133D}" srcId="{26674AF2-D6DC-4C45-8894-BBE7FB8CBFC1}" destId="{338A2B1B-1A4F-B64D-95C5-1537105A74D6}" srcOrd="3" destOrd="0" parTransId="{48F21102-BF78-734E-B120-14EC14E55886}" sibTransId="{EEDAA488-25FA-C942-B2D9-2EA4F90EE701}"/>
    <dgm:cxn modelId="{5B9D7E1A-7107-684C-A4A9-68963F445602}" srcId="{89006ADE-C0C0-3C47-94F7-989365DC93E4}" destId="{231B928E-A797-8A45-87B3-35F9AACD8434}" srcOrd="3" destOrd="0" parTransId="{20C93238-18F9-6248-B87B-B7775D0CDBBD}" sibTransId="{95CABD79-F73B-A740-8535-61E9A46FF961}"/>
    <dgm:cxn modelId="{8B66321C-05ED-ED4A-98F1-B87AB37E4A9D}" type="presOf" srcId="{9E573FFE-19DC-1745-8FB2-0825A3F9AF5F}" destId="{6EE06E43-23D9-9A4D-97C6-D805ADACADEB}" srcOrd="0" destOrd="1" presId="urn:microsoft.com/office/officeart/2005/8/layout/hList1"/>
    <dgm:cxn modelId="{770EA321-9E45-BC4E-81ED-578827A898FF}" type="presOf" srcId="{980F957C-093D-3443-8253-53B535424ECE}" destId="{A43FEDD6-3BC3-F44A-89DD-74BE3EE7D739}" srcOrd="0" destOrd="1" presId="urn:microsoft.com/office/officeart/2005/8/layout/hList1"/>
    <dgm:cxn modelId="{DD55F029-55B0-B546-BBD3-170651B2C879}" type="presOf" srcId="{9415D569-0077-744F-A506-4E00D23BC98E}" destId="{A2A00BC7-354F-2943-8087-49C8DA14F8B0}" srcOrd="0" destOrd="0" presId="urn:microsoft.com/office/officeart/2005/8/layout/hList1"/>
    <dgm:cxn modelId="{BB7E8E2C-5EB6-D047-BB20-EC2358F575B3}" type="presOf" srcId="{C3C6052E-44D2-B647-A966-C36DA78D27B8}" destId="{9671CE39-B8C8-2447-B5AB-C35877CFBA90}" srcOrd="0" destOrd="0" presId="urn:microsoft.com/office/officeart/2005/8/layout/hList1"/>
    <dgm:cxn modelId="{FBEA8B31-D90B-CC42-8CF4-69A9A6D07D07}" srcId="{9415D569-0077-744F-A506-4E00D23BC98E}" destId="{C3C6052E-44D2-B647-A966-C36DA78D27B8}" srcOrd="1" destOrd="0" parTransId="{CA2EB3BE-F00E-B340-92CB-767EB53AFD8C}" sibTransId="{4D2F539B-3223-9F46-ABE8-94826B291D27}"/>
    <dgm:cxn modelId="{DD1C4640-3AC8-C342-BD65-A1CDB8A6837C}" srcId="{C3C6052E-44D2-B647-A966-C36DA78D27B8}" destId="{9E573FFE-19DC-1745-8FB2-0825A3F9AF5F}" srcOrd="1" destOrd="0" parTransId="{8359E6AA-5043-E645-BAC7-D33048FBA713}" sibTransId="{0097E158-4A79-5B41-9F5D-2BCB380C7034}"/>
    <dgm:cxn modelId="{AFA79F65-0117-614E-8024-81AC1440FDD7}" type="presOf" srcId="{231B928E-A797-8A45-87B3-35F9AACD8434}" destId="{9095A06F-41AF-BE49-9673-0E8C99C61364}" srcOrd="0" destOrd="3" presId="urn:microsoft.com/office/officeart/2005/8/layout/hList1"/>
    <dgm:cxn modelId="{26161268-5DE7-CF4C-9742-E8271EA71D78}" srcId="{26674AF2-D6DC-4C45-8894-BBE7FB8CBFC1}" destId="{A28CCD9E-4BD2-874C-ACD5-CEB910284097}" srcOrd="1" destOrd="0" parTransId="{752680F8-1439-1D4A-B6E5-B96BAE55F7E6}" sibTransId="{CED914CE-82CC-1549-94D8-550BFB9D00A2}"/>
    <dgm:cxn modelId="{D2A4896D-D23C-7F49-8512-547E23D2AA01}" type="presOf" srcId="{CAD3432B-5A8B-8E4A-9746-644A1BCC241E}" destId="{9095A06F-41AF-BE49-9673-0E8C99C61364}" srcOrd="0" destOrd="1" presId="urn:microsoft.com/office/officeart/2005/8/layout/hList1"/>
    <dgm:cxn modelId="{9EB67B70-E928-954A-A5E6-E97D8368C731}" srcId="{C3C6052E-44D2-B647-A966-C36DA78D27B8}" destId="{837FB7BD-FB24-EC46-839C-ADE922E7EF50}" srcOrd="0" destOrd="0" parTransId="{91B58D69-B83C-F940-88FD-2C34CA0AF799}" sibTransId="{F1940AA3-6D3C-7142-9360-9B5E4776C069}"/>
    <dgm:cxn modelId="{DDFEFC72-339F-9140-A20F-799492B9D7B9}" type="presOf" srcId="{338A2B1B-1A4F-B64D-95C5-1537105A74D6}" destId="{7DD86DB1-D96E-C849-8E2C-A0218CCCEBE4}" srcOrd="0" destOrd="3" presId="urn:microsoft.com/office/officeart/2005/8/layout/hList1"/>
    <dgm:cxn modelId="{12001F83-27EB-7E48-AA53-8CC9F776620B}" type="presOf" srcId="{837FB7BD-FB24-EC46-839C-ADE922E7EF50}" destId="{6EE06E43-23D9-9A4D-97C6-D805ADACADEB}" srcOrd="0" destOrd="0" presId="urn:microsoft.com/office/officeart/2005/8/layout/hList1"/>
    <dgm:cxn modelId="{3C947B85-3CB4-8A48-995E-EC043645AA70}" srcId="{4177D56F-3ED1-4243-8129-31A9807D5824}" destId="{980F957C-093D-3443-8253-53B535424ECE}" srcOrd="1" destOrd="0" parTransId="{56E41ABD-FD29-9340-82FC-E265E5D7DBF7}" sibTransId="{1B503292-3767-0A4E-901E-43151240C917}"/>
    <dgm:cxn modelId="{B4550286-FDD5-9641-834A-61681DBF9E5C}" srcId="{89006ADE-C0C0-3C47-94F7-989365DC93E4}" destId="{CAD3432B-5A8B-8E4A-9746-644A1BCC241E}" srcOrd="1" destOrd="0" parTransId="{BE35F611-8430-EF48-A74C-53CE9A39A96C}" sibTransId="{C9B0C513-E186-D74E-900D-63FB61B5D1F5}"/>
    <dgm:cxn modelId="{5C13B789-184E-0543-87CC-FD10D8B6E1AE}" type="presOf" srcId="{8E4B70A2-53A5-BF40-A65F-72E00F1035D9}" destId="{7DD86DB1-D96E-C849-8E2C-A0218CCCEBE4}" srcOrd="0" destOrd="0" presId="urn:microsoft.com/office/officeart/2005/8/layout/hList1"/>
    <dgm:cxn modelId="{F5AAAC8B-1371-BF4C-B686-E0034BA0EABB}" type="presOf" srcId="{4177D56F-3ED1-4243-8129-31A9807D5824}" destId="{D68D7B46-B91F-4B43-AB70-8DB0A6CACC24}" srcOrd="0" destOrd="0" presId="urn:microsoft.com/office/officeart/2005/8/layout/hList1"/>
    <dgm:cxn modelId="{F5E22196-D744-004C-BFD3-CE5BAC4AB30E}" srcId="{89006ADE-C0C0-3C47-94F7-989365DC93E4}" destId="{A7709883-1AEA-9844-BC3E-E9DDBC34A080}" srcOrd="2" destOrd="0" parTransId="{565A4AC8-9CE4-A94F-AEA8-B1D0F0F34909}" sibTransId="{D12D96B4-297A-B443-BE8E-9CD3C5DF5345}"/>
    <dgm:cxn modelId="{127E7097-5135-3D4A-B8F2-8880CD3EE756}" srcId="{9415D569-0077-744F-A506-4E00D23BC98E}" destId="{26674AF2-D6DC-4C45-8894-BBE7FB8CBFC1}" srcOrd="0" destOrd="0" parTransId="{871126F5-255C-0643-8EC1-A4C342F05461}" sibTransId="{DCAE5ECA-F682-2649-A68B-1C9D95C682C6}"/>
    <dgm:cxn modelId="{C5F29D9A-9D2F-7F42-8EC8-9D1D697C47B3}" type="presOf" srcId="{E8EC15DB-1E94-D541-A2CD-B04FA2078734}" destId="{A43FEDD6-3BC3-F44A-89DD-74BE3EE7D739}" srcOrd="0" destOrd="0" presId="urn:microsoft.com/office/officeart/2005/8/layout/hList1"/>
    <dgm:cxn modelId="{C2AE81AC-7166-F04A-BF2E-BA98C2E27CE8}" type="presOf" srcId="{A7709883-1AEA-9844-BC3E-E9DDBC34A080}" destId="{9095A06F-41AF-BE49-9673-0E8C99C61364}" srcOrd="0" destOrd="2" presId="urn:microsoft.com/office/officeart/2005/8/layout/hList1"/>
    <dgm:cxn modelId="{1F4C78B1-C498-7644-816E-A72B0F88B4A2}" srcId="{89006ADE-C0C0-3C47-94F7-989365DC93E4}" destId="{245A0851-E43F-2542-8876-5242018B335D}" srcOrd="0" destOrd="0" parTransId="{E11B15CA-E1D0-D14E-B3C4-2A6F400FA9A7}" sibTransId="{4A43FAC7-F51E-BF43-BFC7-547F6231B541}"/>
    <dgm:cxn modelId="{E837E1B1-4D0E-144D-9A72-71FDF86A6350}" srcId="{9415D569-0077-744F-A506-4E00D23BC98E}" destId="{4177D56F-3ED1-4243-8129-31A9807D5824}" srcOrd="3" destOrd="0" parTransId="{170F5046-3514-5944-9F88-982EAF1DEAAA}" sibTransId="{17D32664-FF6F-FC48-8801-C16266D05DC0}"/>
    <dgm:cxn modelId="{F59AF7B2-4408-0F42-999B-3B955DBA6E57}" type="presOf" srcId="{89006ADE-C0C0-3C47-94F7-989365DC93E4}" destId="{2A1D624F-4BB5-F94B-8AF4-607D989B12C6}" srcOrd="0" destOrd="0" presId="urn:microsoft.com/office/officeart/2005/8/layout/hList1"/>
    <dgm:cxn modelId="{551102C8-12AB-DF42-B70B-10D04BE615BA}" srcId="{26674AF2-D6DC-4C45-8894-BBE7FB8CBFC1}" destId="{7C6D69AE-87FA-7B47-8750-8E6B25F97757}" srcOrd="2" destOrd="0" parTransId="{4A863782-09A0-AC4A-8794-E28CD84FE9A6}" sibTransId="{EC9596B4-2D45-594B-AA65-3D6CA9B435C2}"/>
    <dgm:cxn modelId="{B6E5F1CC-C828-6B42-80A1-5B82AE9C39F4}" type="presOf" srcId="{245A0851-E43F-2542-8876-5242018B335D}" destId="{9095A06F-41AF-BE49-9673-0E8C99C61364}" srcOrd="0" destOrd="0" presId="urn:microsoft.com/office/officeart/2005/8/layout/hList1"/>
    <dgm:cxn modelId="{FEBB42D2-960E-F24B-9E4B-BE759A520FBD}" srcId="{4177D56F-3ED1-4243-8129-31A9807D5824}" destId="{E8EC15DB-1E94-D541-A2CD-B04FA2078734}" srcOrd="0" destOrd="0" parTransId="{70C3CF92-6B85-874D-98CE-7C474E76935B}" sibTransId="{25FF79BB-FF48-344C-BC4A-1AF6A7343C0F}"/>
    <dgm:cxn modelId="{F46E40DF-178D-0C4E-96E8-B4C7069B8BC3}" type="presOf" srcId="{26674AF2-D6DC-4C45-8894-BBE7FB8CBFC1}" destId="{7EB9B580-7886-7443-B914-136CD919DAEE}" srcOrd="0" destOrd="0" presId="urn:microsoft.com/office/officeart/2005/8/layout/hList1"/>
    <dgm:cxn modelId="{539EA8FE-9F80-B149-9A35-333B9EFA578D}" type="presOf" srcId="{A28CCD9E-4BD2-874C-ACD5-CEB910284097}" destId="{7DD86DB1-D96E-C849-8E2C-A0218CCCEBE4}" srcOrd="0" destOrd="1" presId="urn:microsoft.com/office/officeart/2005/8/layout/hList1"/>
    <dgm:cxn modelId="{2D140655-A92B-2744-A7D1-6CD5DA427D7E}" type="presParOf" srcId="{A2A00BC7-354F-2943-8087-49C8DA14F8B0}" destId="{4ACC83AC-C041-CB47-ADC3-CCA152B72ACD}" srcOrd="0" destOrd="0" presId="urn:microsoft.com/office/officeart/2005/8/layout/hList1"/>
    <dgm:cxn modelId="{1EE68451-CFB7-1E4C-87EF-BA0EE5CEA676}" type="presParOf" srcId="{4ACC83AC-C041-CB47-ADC3-CCA152B72ACD}" destId="{7EB9B580-7886-7443-B914-136CD919DAEE}" srcOrd="0" destOrd="0" presId="urn:microsoft.com/office/officeart/2005/8/layout/hList1"/>
    <dgm:cxn modelId="{19833129-FE35-9142-B13D-9A28CEC916C2}" type="presParOf" srcId="{4ACC83AC-C041-CB47-ADC3-CCA152B72ACD}" destId="{7DD86DB1-D96E-C849-8E2C-A0218CCCEBE4}" srcOrd="1" destOrd="0" presId="urn:microsoft.com/office/officeart/2005/8/layout/hList1"/>
    <dgm:cxn modelId="{F671CA99-EAC4-034A-AC5A-0844B218CAA3}" type="presParOf" srcId="{A2A00BC7-354F-2943-8087-49C8DA14F8B0}" destId="{7FB73426-4478-EA46-97F5-5B24E01F8BE8}" srcOrd="1" destOrd="0" presId="urn:microsoft.com/office/officeart/2005/8/layout/hList1"/>
    <dgm:cxn modelId="{E1CDF5E8-3DD1-9744-B7EB-FF2742947639}" type="presParOf" srcId="{A2A00BC7-354F-2943-8087-49C8DA14F8B0}" destId="{C9579AEF-4363-BF4F-9F3A-D32F4D626300}" srcOrd="2" destOrd="0" presId="urn:microsoft.com/office/officeart/2005/8/layout/hList1"/>
    <dgm:cxn modelId="{D60B1EC3-0A62-E34F-BCBB-C7612005D86D}" type="presParOf" srcId="{C9579AEF-4363-BF4F-9F3A-D32F4D626300}" destId="{9671CE39-B8C8-2447-B5AB-C35877CFBA90}" srcOrd="0" destOrd="0" presId="urn:microsoft.com/office/officeart/2005/8/layout/hList1"/>
    <dgm:cxn modelId="{A768FBCB-E58B-3C4B-B6C3-C11D3FA70343}" type="presParOf" srcId="{C9579AEF-4363-BF4F-9F3A-D32F4D626300}" destId="{6EE06E43-23D9-9A4D-97C6-D805ADACADEB}" srcOrd="1" destOrd="0" presId="urn:microsoft.com/office/officeart/2005/8/layout/hList1"/>
    <dgm:cxn modelId="{E73BC2F1-296A-4D40-9CD5-938F3621F1BA}" type="presParOf" srcId="{A2A00BC7-354F-2943-8087-49C8DA14F8B0}" destId="{2DAADC65-61D9-924B-8B78-FDE2652682A8}" srcOrd="3" destOrd="0" presId="urn:microsoft.com/office/officeart/2005/8/layout/hList1"/>
    <dgm:cxn modelId="{C9626FA9-C6DF-B54C-B5C7-4E52433780D6}" type="presParOf" srcId="{A2A00BC7-354F-2943-8087-49C8DA14F8B0}" destId="{AEF347C2-8EBC-7D4B-8719-2812C894AE07}" srcOrd="4" destOrd="0" presId="urn:microsoft.com/office/officeart/2005/8/layout/hList1"/>
    <dgm:cxn modelId="{C5ADCFC5-345B-3A46-85D1-047494F21857}" type="presParOf" srcId="{AEF347C2-8EBC-7D4B-8719-2812C894AE07}" destId="{2A1D624F-4BB5-F94B-8AF4-607D989B12C6}" srcOrd="0" destOrd="0" presId="urn:microsoft.com/office/officeart/2005/8/layout/hList1"/>
    <dgm:cxn modelId="{6B2498FD-6D9E-5C4A-9C30-14ABA62C69B6}" type="presParOf" srcId="{AEF347C2-8EBC-7D4B-8719-2812C894AE07}" destId="{9095A06F-41AF-BE49-9673-0E8C99C61364}" srcOrd="1" destOrd="0" presId="urn:microsoft.com/office/officeart/2005/8/layout/hList1"/>
    <dgm:cxn modelId="{DABFD761-3FB2-0148-B146-44C682C2902A}" type="presParOf" srcId="{A2A00BC7-354F-2943-8087-49C8DA14F8B0}" destId="{A6411D82-BD55-3E47-B372-A09D7363E89E}" srcOrd="5" destOrd="0" presId="urn:microsoft.com/office/officeart/2005/8/layout/hList1"/>
    <dgm:cxn modelId="{AE6B59CD-2E38-B340-9DCA-2B5BAA4D92A6}" type="presParOf" srcId="{A2A00BC7-354F-2943-8087-49C8DA14F8B0}" destId="{4A9E7F1D-6301-1D46-8083-ED2206DDCC11}" srcOrd="6" destOrd="0" presId="urn:microsoft.com/office/officeart/2005/8/layout/hList1"/>
    <dgm:cxn modelId="{EA25BFC6-8E39-E043-897A-9E5B176BC83B}" type="presParOf" srcId="{4A9E7F1D-6301-1D46-8083-ED2206DDCC11}" destId="{D68D7B46-B91F-4B43-AB70-8DB0A6CACC24}" srcOrd="0" destOrd="0" presId="urn:microsoft.com/office/officeart/2005/8/layout/hList1"/>
    <dgm:cxn modelId="{0E8CF40C-0DFD-6F4F-81BB-1EDC8AEAEE25}" type="presParOf" srcId="{4A9E7F1D-6301-1D46-8083-ED2206DDCC11}" destId="{A43FEDD6-3BC3-F44A-89DD-74BE3EE7D73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03683-871A-8B4F-9D74-DB79B42637FF}">
      <dsp:nvSpPr>
        <dsp:cNvPr id="0" name=""/>
        <dsp:cNvSpPr/>
      </dsp:nvSpPr>
      <dsp:spPr>
        <a:xfrm>
          <a:off x="25" y="42254"/>
          <a:ext cx="2414370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May 2024</a:t>
          </a:r>
          <a:endParaRPr lang="en-CA" sz="2000" kern="1200"/>
        </a:p>
      </dsp:txBody>
      <dsp:txXfrm>
        <a:off x="25" y="42254"/>
        <a:ext cx="2414370" cy="576000"/>
      </dsp:txXfrm>
    </dsp:sp>
    <dsp:sp modelId="{4D61D7A2-1D33-3048-B527-2A264CE2E217}">
      <dsp:nvSpPr>
        <dsp:cNvPr id="0" name=""/>
        <dsp:cNvSpPr/>
      </dsp:nvSpPr>
      <dsp:spPr>
        <a:xfrm>
          <a:off x="25" y="618254"/>
          <a:ext cx="2414370" cy="29096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Production Intensity normal (+2%)</a:t>
          </a:r>
          <a:endParaRPr lang="en-CA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Peak Demand +31% above baseline</a:t>
          </a:r>
          <a:endParaRPr lang="en-CA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Cost spike driven by equipment concurrency</a:t>
          </a:r>
          <a:endParaRPr lang="en-CA" sz="2000" kern="1200"/>
        </a:p>
      </dsp:txBody>
      <dsp:txXfrm>
        <a:off x="25" y="618254"/>
        <a:ext cx="2414370" cy="2909699"/>
      </dsp:txXfrm>
    </dsp:sp>
    <dsp:sp modelId="{AC4100C4-2F98-FF47-8FE5-B9692FD4A203}">
      <dsp:nvSpPr>
        <dsp:cNvPr id="0" name=""/>
        <dsp:cNvSpPr/>
      </dsp:nvSpPr>
      <dsp:spPr>
        <a:xfrm>
          <a:off x="2752407" y="42254"/>
          <a:ext cx="2414370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July 2024</a:t>
          </a:r>
          <a:endParaRPr lang="en-CA" sz="2000" kern="1200" dirty="0"/>
        </a:p>
      </dsp:txBody>
      <dsp:txXfrm>
        <a:off x="2752407" y="42254"/>
        <a:ext cx="2414370" cy="576000"/>
      </dsp:txXfrm>
    </dsp:sp>
    <dsp:sp modelId="{78A656A7-0D67-ED40-A15A-6C93A57FB80B}">
      <dsp:nvSpPr>
        <dsp:cNvPr id="0" name=""/>
        <dsp:cNvSpPr/>
      </dsp:nvSpPr>
      <dsp:spPr>
        <a:xfrm>
          <a:off x="2752407" y="618254"/>
          <a:ext cx="2414370" cy="290969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Slightly higher production (+8%)</a:t>
          </a:r>
          <a:endParaRPr lang="en-CA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Peak demand +32% above baseline</a:t>
          </a:r>
          <a:endParaRPr lang="en-C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=&gt; Combined energy + demand effect</a:t>
          </a:r>
          <a:endParaRPr lang="en-CA" sz="2000" kern="1200" dirty="0"/>
        </a:p>
      </dsp:txBody>
      <dsp:txXfrm>
        <a:off x="2752407" y="618254"/>
        <a:ext cx="2414370" cy="2909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9B580-7886-7443-B914-136CD919DAEE}">
      <dsp:nvSpPr>
        <dsp:cNvPr id="0" name=""/>
        <dsp:cNvSpPr/>
      </dsp:nvSpPr>
      <dsp:spPr>
        <a:xfrm>
          <a:off x="0" y="1435057"/>
          <a:ext cx="1378817" cy="544056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September 2024</a:t>
          </a:r>
          <a:endParaRPr lang="en-CA" sz="1500" b="1" kern="1200" dirty="0"/>
        </a:p>
      </dsp:txBody>
      <dsp:txXfrm>
        <a:off x="0" y="1435057"/>
        <a:ext cx="1378817" cy="544056"/>
      </dsp:txXfrm>
    </dsp:sp>
    <dsp:sp modelId="{7DD86DB1-D96E-C849-8E2C-A0218CCCEBE4}">
      <dsp:nvSpPr>
        <dsp:cNvPr id="0" name=""/>
        <dsp:cNvSpPr/>
      </dsp:nvSpPr>
      <dsp:spPr>
        <a:xfrm>
          <a:off x="0" y="1929029"/>
          <a:ext cx="1378817" cy="288225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Production is slightly lower than normal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Peak Intensity -13%</a:t>
          </a:r>
          <a:endParaRPr lang="en-CA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Smooth operational month</a:t>
          </a:r>
          <a:endParaRPr lang="en-CA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Lower demand pressure</a:t>
          </a:r>
          <a:endParaRPr lang="en-CA" sz="1500" kern="1200"/>
        </a:p>
      </dsp:txBody>
      <dsp:txXfrm>
        <a:off x="0" y="1929029"/>
        <a:ext cx="1378817" cy="2882250"/>
      </dsp:txXfrm>
    </dsp:sp>
    <dsp:sp modelId="{9671CE39-B8C8-2447-B5AB-C35877CFBA90}">
      <dsp:nvSpPr>
        <dsp:cNvPr id="0" name=""/>
        <dsp:cNvSpPr/>
      </dsp:nvSpPr>
      <dsp:spPr>
        <a:xfrm>
          <a:off x="1538640" y="1426178"/>
          <a:ext cx="1378817" cy="544056"/>
        </a:xfrm>
        <a:prstGeom prst="rect">
          <a:avLst/>
        </a:prstGeom>
        <a:solidFill>
          <a:schemeClr val="accent2">
            <a:shade val="80000"/>
            <a:hueOff val="-160472"/>
            <a:satOff val="3389"/>
            <a:lumOff val="9027"/>
            <a:alphaOff val="0"/>
          </a:schemeClr>
        </a:solidFill>
        <a:ln w="12700" cap="flat" cmpd="sng" algn="ctr">
          <a:solidFill>
            <a:schemeClr val="accent2">
              <a:shade val="80000"/>
              <a:hueOff val="-160472"/>
              <a:satOff val="3389"/>
              <a:lumOff val="90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January 2025</a:t>
          </a:r>
          <a:endParaRPr lang="en-CA" sz="1500" b="1" kern="1200" dirty="0"/>
        </a:p>
      </dsp:txBody>
      <dsp:txXfrm>
        <a:off x="1538640" y="1426178"/>
        <a:ext cx="1378817" cy="544056"/>
      </dsp:txXfrm>
    </dsp:sp>
    <dsp:sp modelId="{6EE06E43-23D9-9A4D-97C6-D805ADACADEB}">
      <dsp:nvSpPr>
        <dsp:cNvPr id="0" name=""/>
        <dsp:cNvSpPr/>
      </dsp:nvSpPr>
      <dsp:spPr>
        <a:xfrm>
          <a:off x="1547505" y="1929029"/>
          <a:ext cx="1378817" cy="288225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Production stable</a:t>
          </a:r>
          <a:endParaRPr lang="en-CA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Peak intensity -16%</a:t>
          </a:r>
          <a:endParaRPr lang="en-CA" sz="1500" kern="1200"/>
        </a:p>
      </dsp:txBody>
      <dsp:txXfrm>
        <a:off x="1547505" y="1929029"/>
        <a:ext cx="1378817" cy="2882250"/>
      </dsp:txXfrm>
    </dsp:sp>
    <dsp:sp modelId="{2A1D624F-4BB5-F94B-8AF4-607D989B12C6}">
      <dsp:nvSpPr>
        <dsp:cNvPr id="0" name=""/>
        <dsp:cNvSpPr/>
      </dsp:nvSpPr>
      <dsp:spPr>
        <a:xfrm>
          <a:off x="3128237" y="1417305"/>
          <a:ext cx="1378817" cy="544056"/>
        </a:xfrm>
        <a:prstGeom prst="rect">
          <a:avLst/>
        </a:prstGeom>
        <a:solidFill>
          <a:schemeClr val="accent2">
            <a:shade val="80000"/>
            <a:hueOff val="-320943"/>
            <a:satOff val="6777"/>
            <a:lumOff val="18054"/>
            <a:alphaOff val="0"/>
          </a:schemeClr>
        </a:solidFill>
        <a:ln w="12700" cap="flat" cmpd="sng" algn="ctr">
          <a:solidFill>
            <a:schemeClr val="accent2">
              <a:shade val="80000"/>
              <a:hueOff val="-320943"/>
              <a:satOff val="6777"/>
              <a:lumOff val="180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April 2025</a:t>
          </a:r>
          <a:endParaRPr lang="en-CA" sz="1500" b="1" kern="1200" dirty="0"/>
        </a:p>
      </dsp:txBody>
      <dsp:txXfrm>
        <a:off x="3128237" y="1417305"/>
        <a:ext cx="1378817" cy="544056"/>
      </dsp:txXfrm>
    </dsp:sp>
    <dsp:sp modelId="{9095A06F-41AF-BE49-9673-0E8C99C61364}">
      <dsp:nvSpPr>
        <dsp:cNvPr id="0" name=""/>
        <dsp:cNvSpPr/>
      </dsp:nvSpPr>
      <dsp:spPr>
        <a:xfrm>
          <a:off x="3119357" y="1929029"/>
          <a:ext cx="1378817" cy="288225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Production compressed (+12%)</a:t>
          </a:r>
          <a:endParaRPr lang="en-CA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Peak stable</a:t>
          </a:r>
          <a:endParaRPr lang="en-CA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Higher throughput without demand spike</a:t>
          </a:r>
          <a:endParaRPr lang="en-CA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Operational inefficiency improvement</a:t>
          </a:r>
          <a:endParaRPr lang="en-CA" sz="1500" kern="1200"/>
        </a:p>
      </dsp:txBody>
      <dsp:txXfrm>
        <a:off x="3119357" y="1929029"/>
        <a:ext cx="1378817" cy="2882250"/>
      </dsp:txXfrm>
    </dsp:sp>
    <dsp:sp modelId="{D68D7B46-B91F-4B43-AB70-8DB0A6CACC24}">
      <dsp:nvSpPr>
        <dsp:cNvPr id="0" name=""/>
        <dsp:cNvSpPr/>
      </dsp:nvSpPr>
      <dsp:spPr>
        <a:xfrm>
          <a:off x="4682343" y="1426178"/>
          <a:ext cx="1378817" cy="544056"/>
        </a:xfrm>
        <a:prstGeom prst="rect">
          <a:avLst/>
        </a:prstGeom>
        <a:solidFill>
          <a:schemeClr val="accent2">
            <a:shade val="80000"/>
            <a:hueOff val="-481415"/>
            <a:satOff val="10166"/>
            <a:lumOff val="27081"/>
            <a:alphaOff val="0"/>
          </a:schemeClr>
        </a:solidFill>
        <a:ln w="12700" cap="flat" cmpd="sng" algn="ctr">
          <a:solidFill>
            <a:schemeClr val="accent2">
              <a:shade val="80000"/>
              <a:hueOff val="-481415"/>
              <a:satOff val="10166"/>
              <a:lumOff val="270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May 2025</a:t>
          </a:r>
          <a:endParaRPr lang="en-CA" sz="1500" b="1" kern="1200" dirty="0"/>
        </a:p>
      </dsp:txBody>
      <dsp:txXfrm>
        <a:off x="4682343" y="1426178"/>
        <a:ext cx="1378817" cy="544056"/>
      </dsp:txXfrm>
    </dsp:sp>
    <dsp:sp modelId="{A43FEDD6-3BC3-F44A-89DD-74BE3EE7D739}">
      <dsp:nvSpPr>
        <dsp:cNvPr id="0" name=""/>
        <dsp:cNvSpPr/>
      </dsp:nvSpPr>
      <dsp:spPr>
        <a:xfrm>
          <a:off x="4691209" y="1929029"/>
          <a:ext cx="1378817" cy="288225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Production slightly increased</a:t>
          </a:r>
          <a:endParaRPr lang="en-C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Peak is controlled</a:t>
          </a:r>
          <a:endParaRPr lang="en-CA" sz="1500" kern="1200"/>
        </a:p>
      </dsp:txBody>
      <dsp:txXfrm>
        <a:off x="4691209" y="1929029"/>
        <a:ext cx="1378817" cy="2882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84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536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90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66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721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10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099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71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05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965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952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99DBE-0EC7-4694-B7D6-759C7754423F}" type="datetimeFigureOut">
              <a:rPr lang="en-CA" smtClean="0"/>
              <a:t>2026-03-03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6FC61-7FDD-4D2F-883F-DF866BA6418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849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red building with glass windows&#10;&#10;AI-generated content may be incorrect.">
            <a:extLst>
              <a:ext uri="{FF2B5EF4-FFF2-40B4-BE49-F238E27FC236}">
                <a16:creationId xmlns:a16="http://schemas.microsoft.com/office/drawing/2014/main" id="{7762ECFF-211D-B0C3-2B27-181BA4B40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45" b="52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E78CF-F9F5-3CF2-9C15-5A4832DEB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Electricity Model – Delta Plant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2">
            <a:extLst>
              <a:ext uri="{FF2B5EF4-FFF2-40B4-BE49-F238E27FC236}">
                <a16:creationId xmlns:a16="http://schemas.microsoft.com/office/drawing/2014/main" id="{BF9ECC5B-D30B-527F-7987-A00B94B342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2651" y="525651"/>
            <a:ext cx="3055749" cy="305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8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47797507-7289-91A3-0D36-78480D026147}"/>
              </a:ext>
            </a:extLst>
          </p:cNvPr>
          <p:cNvSpPr txBox="1"/>
          <p:nvPr/>
        </p:nvSpPr>
        <p:spPr>
          <a:xfrm>
            <a:off x="8168514" y="1777234"/>
            <a:ext cx="2176965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CA" sz="1400" dirty="0"/>
              <a:t>- Transformer Discount</a:t>
            </a:r>
          </a:p>
          <a:p>
            <a:r>
              <a:rPr lang="en-CA" sz="1400" dirty="0"/>
              <a:t>- Sur % on Electricity  Charge</a:t>
            </a:r>
          </a:p>
          <a:p>
            <a:r>
              <a:rPr lang="en-CA" sz="1400" dirty="0"/>
              <a:t>- Deferral Rate Rider</a:t>
            </a:r>
          </a:p>
          <a:p>
            <a:r>
              <a:rPr lang="en-CA" sz="1400" dirty="0"/>
              <a:t>- Trade Adjustment</a:t>
            </a:r>
          </a:p>
          <a:p>
            <a:r>
              <a:rPr lang="en-CA" sz="1400" dirty="0"/>
              <a:t>- Credit Adjustment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F43B4-63CB-A590-57F3-95058B941BAB}"/>
              </a:ext>
            </a:extLst>
          </p:cNvPr>
          <p:cNvSpPr/>
          <p:nvPr/>
        </p:nvSpPr>
        <p:spPr>
          <a:xfrm>
            <a:off x="3317184" y="737559"/>
            <a:ext cx="967563" cy="57415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Energy (kWh)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66863-0F50-BF6C-61EF-A5E0CC9953F7}"/>
              </a:ext>
            </a:extLst>
          </p:cNvPr>
          <p:cNvSpPr txBox="1"/>
          <p:nvPr/>
        </p:nvSpPr>
        <p:spPr>
          <a:xfrm>
            <a:off x="4730707" y="839972"/>
            <a:ext cx="46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7055C-46E9-D0ED-3791-062AD2B8D1D6}"/>
              </a:ext>
            </a:extLst>
          </p:cNvPr>
          <p:cNvSpPr/>
          <p:nvPr/>
        </p:nvSpPr>
        <p:spPr>
          <a:xfrm>
            <a:off x="5817956" y="724116"/>
            <a:ext cx="1251098" cy="5741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Demand (kW)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75E2CF-B8BD-3930-F1F0-28634DC1A98F}"/>
              </a:ext>
            </a:extLst>
          </p:cNvPr>
          <p:cNvSpPr/>
          <p:nvPr/>
        </p:nvSpPr>
        <p:spPr>
          <a:xfrm>
            <a:off x="8513446" y="737559"/>
            <a:ext cx="1251098" cy="5741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Charges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BBDAE-D51B-BE81-2FCA-BDB16A381493}"/>
              </a:ext>
            </a:extLst>
          </p:cNvPr>
          <p:cNvSpPr txBox="1"/>
          <p:nvPr/>
        </p:nvSpPr>
        <p:spPr>
          <a:xfrm>
            <a:off x="7591432" y="8399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A2DCEA-DA28-8462-24C5-818A1542E8DD}"/>
              </a:ext>
            </a:extLst>
          </p:cNvPr>
          <p:cNvSpPr/>
          <p:nvPr/>
        </p:nvSpPr>
        <p:spPr>
          <a:xfrm>
            <a:off x="698816" y="677801"/>
            <a:ext cx="1490373" cy="693671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Electricity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7EB77-380E-D467-707E-F4AFED3AD765}"/>
              </a:ext>
            </a:extLst>
          </p:cNvPr>
          <p:cNvSpPr txBox="1"/>
          <p:nvPr/>
        </p:nvSpPr>
        <p:spPr>
          <a:xfrm>
            <a:off x="2634293" y="7802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DDCF49-77AB-0ECC-BAE0-8031C2DF0DF6}"/>
              </a:ext>
            </a:extLst>
          </p:cNvPr>
          <p:cNvSpPr txBox="1"/>
          <p:nvPr/>
        </p:nvSpPr>
        <p:spPr>
          <a:xfrm>
            <a:off x="2438312" y="1812879"/>
            <a:ext cx="2501567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CA" sz="1400" dirty="0"/>
              <a:t>Electricity consumed to operate equipment and production processes.</a:t>
            </a:r>
            <a:br>
              <a:rPr lang="en-CA" sz="1400" dirty="0"/>
            </a:b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6B3420-E8A6-425F-8C0F-FE3AC23FF5CE}"/>
              </a:ext>
            </a:extLst>
          </p:cNvPr>
          <p:cNvSpPr txBox="1"/>
          <p:nvPr/>
        </p:nvSpPr>
        <p:spPr>
          <a:xfrm>
            <a:off x="5387000" y="1920600"/>
            <a:ext cx="2504514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CA" sz="1400" dirty="0"/>
              <a:t>Highest 15-minute peak power draw during the billing period.</a:t>
            </a:r>
            <a:br>
              <a:rPr lang="en-CA" sz="1400" dirty="0"/>
            </a:b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9A1E56-A8F7-7FAD-8FCF-311BAC9BE47C}"/>
                  </a:ext>
                </a:extLst>
              </p:cNvPr>
              <p:cNvSpPr txBox="1"/>
              <p:nvPr/>
            </p:nvSpPr>
            <p:spPr>
              <a:xfrm>
                <a:off x="1766201" y="3531560"/>
                <a:ext cx="7998343" cy="1825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CA" sz="1400" dirty="0"/>
                  <a:t>Let month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1400" i="1">
                        <a:latin typeface="Cambria Math" panose="02040503050406030204" pitchFamily="18" charset="0"/>
                      </a:rPr>
                      <m:t>m</m:t>
                    </m:r>
                    <m:r>
                      <a:rPr lang="en-CA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1400" dirty="0"/>
                  <a:t>have: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days, </a:t>
                </a:r>
                <a14:m>
                  <m:oMath xmlns:m="http://schemas.openxmlformats.org/officeDocument/2006/math">
                    <m:r>
                      <a:rPr lang="en-CA" sz="1400" i="1">
                        <a:latin typeface="Cambria Math" panose="02040503050406030204" pitchFamily="18" charset="0"/>
                      </a:rPr>
                      <m:t>𝐾𝐺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kg/day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CA" sz="1400" dirty="0"/>
                  <a:t> </a:t>
                </a:r>
                <a14:m>
                  <m:oMath xmlns:m="http://schemas.openxmlformats.org/officeDocument/2006/math">
                    <m:r>
                      <a:rPr lang="en-CA" sz="1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lag kWh/day, </a:t>
                </a:r>
                <a14:m>
                  <m:oMath xmlns:m="http://schemas.openxmlformats.org/officeDocument/2006/math">
                    <m:r>
                      <a:rPr lang="en-CA" sz="1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lag kW (This month’s electricity behavior partially depends on last month’s behavior)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 err="1"/>
                  <a:t>is_winter</a:t>
                </a:r>
                <a:r>
                  <a:rPr lang="en-CA" sz="1400" dirty="0"/>
                  <a:t> (0/1),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 err="1"/>
                  <a:t>is_jul</a:t>
                </a:r>
                <a:r>
                  <a:rPr lang="en-CA" sz="1400" dirty="0"/>
                  <a:t> (0/1) (winter is from OCT – MAR and July is from July 1 - Aug 30)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kWh rate ($/kWh),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kW rate ($/kW)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𝑚𝑒𝑑</m:t>
                        </m:r>
                      </m:sub>
                    </m:sSub>
                  </m:oMath>
                </a14:m>
                <a:r>
                  <a:rPr lang="ar-AE" sz="1400" dirty="0"/>
                  <a:t>=</a:t>
                </a:r>
                <a:r>
                  <a:rPr lang="en-CA" sz="1400" dirty="0"/>
                  <a:t>median </a:t>
                </a:r>
                <a:r>
                  <a:rPr lang="en-CA" sz="1400" dirty="0" err="1"/>
                  <a:t>fixed+riders−credits</a:t>
                </a:r>
                <a:r>
                  <a:rPr lang="en-CA" sz="1400" dirty="0"/>
                  <a:t> (pre-tax)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sz="1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CA" sz="1400" dirty="0"/>
                  <a:t>=GST rate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9A1E56-A8F7-7FAD-8FCF-311BAC9BE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201" y="3531560"/>
                <a:ext cx="7998343" cy="1825308"/>
              </a:xfrm>
              <a:prstGeom prst="rect">
                <a:avLst/>
              </a:prstGeom>
              <a:blipFill>
                <a:blip r:embed="rId2"/>
                <a:stretch>
                  <a:fillRect l="-317" t="-690" b="-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F7795487-C37B-EB41-804C-F1B322A02802}"/>
              </a:ext>
            </a:extLst>
          </p:cNvPr>
          <p:cNvSpPr txBox="1"/>
          <p:nvPr/>
        </p:nvSpPr>
        <p:spPr>
          <a:xfrm>
            <a:off x="365051" y="5511598"/>
            <a:ext cx="11461898" cy="30777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CA" sz="1400" dirty="0"/>
              <a:t>Cost=[</a:t>
            </a:r>
            <a:r>
              <a:rPr lang="en-CA" sz="1400" dirty="0" err="1"/>
              <a:t>rE</a:t>
            </a:r>
            <a:r>
              <a:rPr lang="en-CA" sz="1400" dirty="0"/>
              <a:t> x ​D x ​(2118.8567+0.2416 x KGD +0.4936 x Lk −996.7901 x W​+1469.7030 x J​)+</a:t>
            </a:r>
            <a:r>
              <a:rPr lang="en-CA" sz="1400" dirty="0" err="1"/>
              <a:t>rD</a:t>
            </a:r>
            <a:r>
              <a:rPr lang="en-CA" sz="1400" dirty="0"/>
              <a:t> x (340.7272+0.0133 x KGD ​+ 0.3915 x Lw​−102.0737 x W)+ F] x (1+g)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14D2F7-B047-A655-A700-A43D8C37F8FD}"/>
              </a:ext>
            </a:extLst>
          </p:cNvPr>
          <p:cNvSpPr txBox="1"/>
          <p:nvPr/>
        </p:nvSpPr>
        <p:spPr>
          <a:xfrm>
            <a:off x="493629" y="3127787"/>
            <a:ext cx="95898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Formula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D2B8BF-3ECD-84FB-D2BC-4B236D767F82}"/>
              </a:ext>
            </a:extLst>
          </p:cNvPr>
          <p:cNvCxnSpPr/>
          <p:nvPr/>
        </p:nvCxnSpPr>
        <p:spPr>
          <a:xfrm>
            <a:off x="3800965" y="1371472"/>
            <a:ext cx="0" cy="33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FB5091D-FB7C-66E1-D178-617ACFC08199}"/>
              </a:ext>
            </a:extLst>
          </p:cNvPr>
          <p:cNvCxnSpPr/>
          <p:nvPr/>
        </p:nvCxnSpPr>
        <p:spPr>
          <a:xfrm>
            <a:off x="6443505" y="1371472"/>
            <a:ext cx="0" cy="33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E9F2535-117F-70F9-D210-E786A0737582}"/>
              </a:ext>
            </a:extLst>
          </p:cNvPr>
          <p:cNvCxnSpPr/>
          <p:nvPr/>
        </p:nvCxnSpPr>
        <p:spPr>
          <a:xfrm>
            <a:off x="9138995" y="1371472"/>
            <a:ext cx="0" cy="33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48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F9F7015-77A7-7390-A381-EE11BDD51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646" y="1544228"/>
            <a:ext cx="5461171" cy="395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table&#10;&#10;AI-generated content may be incorrect.">
            <a:extLst>
              <a:ext uri="{FF2B5EF4-FFF2-40B4-BE49-F238E27FC236}">
                <a16:creationId xmlns:a16="http://schemas.microsoft.com/office/drawing/2014/main" id="{FA9885AC-2FF1-4A38-E8C7-30C71A47B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945464"/>
            <a:ext cx="5294715" cy="496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44B8E1AE-435E-A034-262B-65B99AC37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7" y="107577"/>
            <a:ext cx="11705665" cy="310896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C589947-2B0C-E0EB-9C3D-09EBE25A7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8679"/>
              </p:ext>
            </p:extLst>
          </p:nvPr>
        </p:nvGraphicFramePr>
        <p:xfrm>
          <a:off x="464729" y="3429000"/>
          <a:ext cx="11262540" cy="310896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955964">
                  <a:extLst>
                    <a:ext uri="{9D8B030D-6E8A-4147-A177-3AD203B41FA5}">
                      <a16:colId xmlns:a16="http://schemas.microsoft.com/office/drawing/2014/main" val="1437641353"/>
                    </a:ext>
                  </a:extLst>
                </a:gridCol>
                <a:gridCol w="1065997">
                  <a:extLst>
                    <a:ext uri="{9D8B030D-6E8A-4147-A177-3AD203B41FA5}">
                      <a16:colId xmlns:a16="http://schemas.microsoft.com/office/drawing/2014/main" val="2014532829"/>
                    </a:ext>
                  </a:extLst>
                </a:gridCol>
                <a:gridCol w="1222744">
                  <a:extLst>
                    <a:ext uri="{9D8B030D-6E8A-4147-A177-3AD203B41FA5}">
                      <a16:colId xmlns:a16="http://schemas.microsoft.com/office/drawing/2014/main" val="2758889403"/>
                    </a:ext>
                  </a:extLst>
                </a:gridCol>
                <a:gridCol w="648586">
                  <a:extLst>
                    <a:ext uri="{9D8B030D-6E8A-4147-A177-3AD203B41FA5}">
                      <a16:colId xmlns:a16="http://schemas.microsoft.com/office/drawing/2014/main" val="2248100249"/>
                    </a:ext>
                  </a:extLst>
                </a:gridCol>
                <a:gridCol w="886529">
                  <a:extLst>
                    <a:ext uri="{9D8B030D-6E8A-4147-A177-3AD203B41FA5}">
                      <a16:colId xmlns:a16="http://schemas.microsoft.com/office/drawing/2014/main" val="637965764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95869115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93524755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081956643"/>
                    </a:ext>
                  </a:extLst>
                </a:gridCol>
                <a:gridCol w="1051496">
                  <a:extLst>
                    <a:ext uri="{9D8B030D-6E8A-4147-A177-3AD203B41FA5}">
                      <a16:colId xmlns:a16="http://schemas.microsoft.com/office/drawing/2014/main" val="504470120"/>
                    </a:ext>
                  </a:extLst>
                </a:gridCol>
                <a:gridCol w="1531974">
                  <a:extLst>
                    <a:ext uri="{9D8B030D-6E8A-4147-A177-3AD203B41FA5}">
                      <a16:colId xmlns:a16="http://schemas.microsoft.com/office/drawing/2014/main" val="3431715553"/>
                    </a:ext>
                  </a:extLst>
                </a:gridCol>
                <a:gridCol w="1031358">
                  <a:extLst>
                    <a:ext uri="{9D8B030D-6E8A-4147-A177-3AD203B41FA5}">
                      <a16:colId xmlns:a16="http://schemas.microsoft.com/office/drawing/2014/main" val="247676074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Variance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Production (kg)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kg/day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6M Avg kg/day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kW/day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6M Avg kW/day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Compressed?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Peak Intense?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9242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2024-05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+2,931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507,668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16,922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16,519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32.90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25.05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Yes</a:t>
                      </a:r>
                      <a:endParaRPr lang="en-CA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998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2024-07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+1,975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500,582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17,878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16,540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35.64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26.92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/>
                        <a:t>Yes</a:t>
                      </a:r>
                      <a:endParaRPr lang="en-CA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57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2024-09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-3,126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550,212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16,673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17,559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920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27.88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32.19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3430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2025-01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-1,991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597,495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18,672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19,596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814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25.44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30.45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1768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2025-04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-3,224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653,110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21,770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19,437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895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29.83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28.30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/>
                        <a:t>Yes</a:t>
                      </a:r>
                      <a:endParaRPr lang="en-CA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423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/>
                        <a:t>2025-05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-2,017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652,035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21,735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20,287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/>
                        <a:t>30.13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800" dirty="0"/>
                        <a:t>28.62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462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32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223778E-D825-5681-4153-055E4337D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350345"/>
              </p:ext>
            </p:extLst>
          </p:nvPr>
        </p:nvGraphicFramePr>
        <p:xfrm>
          <a:off x="239697" y="1404659"/>
          <a:ext cx="5166804" cy="3570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40802AC-554C-94F8-DDAD-009011593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4910"/>
              </p:ext>
            </p:extLst>
          </p:nvPr>
        </p:nvGraphicFramePr>
        <p:xfrm>
          <a:off x="5752731" y="58846"/>
          <a:ext cx="6098958" cy="6740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46308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B07B1681-685E-4DB8-42C5-4323C7190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49" y="1326128"/>
            <a:ext cx="11329639" cy="28221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27A641-5D11-5D1F-4FE8-39A86DF27F21}"/>
              </a:ext>
            </a:extLst>
          </p:cNvPr>
          <p:cNvSpPr txBox="1"/>
          <p:nvPr/>
        </p:nvSpPr>
        <p:spPr>
          <a:xfrm>
            <a:off x="823323" y="4527831"/>
            <a:ext cx="8906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Assumption: The 2026 electricity forecast is production-driven, rate-stable, and operationally continuous, with other charges mirrored from 2025 behaviour.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4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78FFF5-F794-C726-933B-BD5E228D1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92" y="163561"/>
            <a:ext cx="4229690" cy="6011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BF890-C372-AFAA-4C2D-E2C97068EB71}"/>
              </a:ext>
            </a:extLst>
          </p:cNvPr>
          <p:cNvSpPr txBox="1"/>
          <p:nvPr/>
        </p:nvSpPr>
        <p:spPr>
          <a:xfrm>
            <a:off x="6299200" y="1968789"/>
            <a:ext cx="452053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CA" dirty="0"/>
              <a:t>Total Cost/Day = $33,739.36/30 = $1124.64</a:t>
            </a:r>
          </a:p>
          <a:p>
            <a:r>
              <a:rPr lang="en-CA" dirty="0"/>
              <a:t>Total Cost per Jan = $1124.64 x 31 = $34,864.0</a:t>
            </a:r>
          </a:p>
          <a:p>
            <a:r>
              <a:rPr lang="en-CA" dirty="0"/>
              <a:t>Predicted Jan Bill = $34,035.02</a:t>
            </a:r>
          </a:p>
          <a:p>
            <a:r>
              <a:rPr lang="en-CA" b="1" dirty="0"/>
              <a:t>Variance = $828.98 ~ 2% difference</a:t>
            </a:r>
          </a:p>
        </p:txBody>
      </p:sp>
    </p:spTree>
    <p:extLst>
      <p:ext uri="{BB962C8B-B14F-4D97-AF65-F5344CB8AC3E}">
        <p14:creationId xmlns:p14="http://schemas.microsoft.com/office/powerpoint/2010/main" val="251723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6A4A-ECFA-656F-0CCB-6E22D22F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1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/>
              <a:t>2026 Cost Optimization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02865-EE75-A066-704D-51343788441D}"/>
              </a:ext>
            </a:extLst>
          </p:cNvPr>
          <p:cNvSpPr txBox="1"/>
          <p:nvPr/>
        </p:nvSpPr>
        <p:spPr>
          <a:xfrm>
            <a:off x="434785" y="1282912"/>
            <a:ext cx="4067652" cy="4755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1. Improve Energy Intensity (kWh/kg)</a:t>
            </a:r>
          </a:p>
          <a:p>
            <a:r>
              <a:rPr lang="en-US" sz="1500" dirty="0"/>
              <a:t>Target 3 – 5% reductions</a:t>
            </a:r>
          </a:p>
          <a:p>
            <a:r>
              <a:rPr lang="en-US" sz="1500" dirty="0"/>
              <a:t>Actions:</a:t>
            </a:r>
          </a:p>
          <a:p>
            <a:r>
              <a:rPr lang="en-US" sz="1500" dirty="0"/>
              <a:t>- Reduce idle machine run time</a:t>
            </a:r>
          </a:p>
          <a:p>
            <a:r>
              <a:rPr lang="en-US" sz="1500" dirty="0"/>
              <a:t>- Smooth daily production load</a:t>
            </a:r>
          </a:p>
          <a:p>
            <a:r>
              <a:rPr lang="en-US" sz="1500" dirty="0"/>
              <a:t>Impact:  $9k - 15K annual saving</a:t>
            </a:r>
          </a:p>
          <a:p>
            <a:endParaRPr lang="en-US" sz="1500" dirty="0"/>
          </a:p>
          <a:p>
            <a:r>
              <a:rPr lang="en-US" sz="1500" b="1" dirty="0"/>
              <a:t>2. Control Peak Demand</a:t>
            </a:r>
          </a:p>
          <a:p>
            <a:r>
              <a:rPr lang="en-US" sz="1500" dirty="0"/>
              <a:t>Target: Reduce monthly peak by 50-75 kW</a:t>
            </a:r>
          </a:p>
          <a:p>
            <a:r>
              <a:rPr lang="en-US" sz="1500" dirty="0"/>
              <a:t>Actions:</a:t>
            </a:r>
          </a:p>
          <a:p>
            <a:r>
              <a:rPr lang="en-US" sz="1500" dirty="0"/>
              <a:t>- Stagger equipment start time</a:t>
            </a:r>
          </a:p>
          <a:p>
            <a:r>
              <a:rPr lang="en-US" sz="1500" dirty="0"/>
              <a:t>- Avoid simultaneous high-load operations</a:t>
            </a:r>
          </a:p>
          <a:p>
            <a:r>
              <a:rPr lang="en-US" sz="1500" dirty="0"/>
              <a:t>Impact: $8 – 12K annual savings</a:t>
            </a:r>
          </a:p>
          <a:p>
            <a:endParaRPr lang="en-US" sz="1500" dirty="0"/>
          </a:p>
          <a:p>
            <a:r>
              <a:rPr lang="en-US" sz="1500" b="1" dirty="0"/>
              <a:t>3. Prevent Production Compression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Avoid high kg/day spike months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Spread production evenly across working days</a:t>
            </a:r>
          </a:p>
          <a:p>
            <a:pPr marL="285750" indent="-285750">
              <a:buFontTx/>
              <a:buChar char="-"/>
            </a:pPr>
            <a:r>
              <a:rPr lang="en-US" sz="1500" dirty="0"/>
              <a:t>Reduces demand spikes and energy intensity</a:t>
            </a:r>
          </a:p>
          <a:p>
            <a:r>
              <a:rPr lang="en-US" sz="1500" dirty="0"/>
              <a:t>Impact: $2k - $4k avoided variance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E22CCD-5D83-4AD6-FC26-EFDD92D59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55485"/>
              </p:ext>
            </p:extLst>
          </p:nvPr>
        </p:nvGraphicFramePr>
        <p:xfrm>
          <a:off x="5240263" y="1230062"/>
          <a:ext cx="6728825" cy="4765347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345765">
                  <a:extLst>
                    <a:ext uri="{9D8B030D-6E8A-4147-A177-3AD203B41FA5}">
                      <a16:colId xmlns:a16="http://schemas.microsoft.com/office/drawing/2014/main" val="1681576696"/>
                    </a:ext>
                  </a:extLst>
                </a:gridCol>
                <a:gridCol w="1345765">
                  <a:extLst>
                    <a:ext uri="{9D8B030D-6E8A-4147-A177-3AD203B41FA5}">
                      <a16:colId xmlns:a16="http://schemas.microsoft.com/office/drawing/2014/main" val="2510441857"/>
                    </a:ext>
                  </a:extLst>
                </a:gridCol>
                <a:gridCol w="1345765">
                  <a:extLst>
                    <a:ext uri="{9D8B030D-6E8A-4147-A177-3AD203B41FA5}">
                      <a16:colId xmlns:a16="http://schemas.microsoft.com/office/drawing/2014/main" val="106947795"/>
                    </a:ext>
                  </a:extLst>
                </a:gridCol>
                <a:gridCol w="1345765">
                  <a:extLst>
                    <a:ext uri="{9D8B030D-6E8A-4147-A177-3AD203B41FA5}">
                      <a16:colId xmlns:a16="http://schemas.microsoft.com/office/drawing/2014/main" val="1765557385"/>
                    </a:ext>
                  </a:extLst>
                </a:gridCol>
                <a:gridCol w="1345765">
                  <a:extLst>
                    <a:ext uri="{9D8B030D-6E8A-4147-A177-3AD203B41FA5}">
                      <a16:colId xmlns:a16="http://schemas.microsoft.com/office/drawing/2014/main" val="759756795"/>
                    </a:ext>
                  </a:extLst>
                </a:gridCol>
              </a:tblGrid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Initiative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Driver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Formula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Assumption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Estimated Annual Impact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86594944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Energy Intensity Reduction (3%)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Total kWh × 3% × $/kWh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4,400,000 kWh × 3% × $0.0675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~$8,900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818592675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Energy Intensity Reduction (5%)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Total kWh × 5% × $/kWh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4,400,000 kWh × 5% × $0.0675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~$14,850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60245372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Peak Reduction (50 kW)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 × Rate × 12 months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50 × $13.75 × 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$8,250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7524023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Peak Reduction (75 kW)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 × Rate × 12 months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75 × $13.75 × 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$12,375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800980405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Avoid 1 Compression Month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Demand spike avoided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Avg spike × demand rate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~100 kW spike × $13.75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~$1,375 per event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7555087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Base Load Reduction (10%)</a:t>
                      </a:r>
                      <a:endParaRPr lang="en-CA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kWh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Base kWh × 10% × $/kWh × 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1,000 kWh × 12 × $0.0675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 dirty="0"/>
                        <a:t>~$810</a:t>
                      </a:r>
                      <a:endParaRPr lang="en-CA" sz="140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344531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605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446</TotalTime>
  <Words>726</Words>
  <Application>Microsoft Office PowerPoint</Application>
  <PresentationFormat>Widescreen</PresentationFormat>
  <Paragraphs>185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2013 - 2022 Theme</vt:lpstr>
      <vt:lpstr>Electricity Model – Delta Plant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2026 Cost Optimization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Trang Hoang</dc:creator>
  <cp:lastModifiedBy>Trang Hoang</cp:lastModifiedBy>
  <cp:revision>6</cp:revision>
  <dcterms:created xsi:type="dcterms:W3CDTF">2026-02-27T01:19:35Z</dcterms:created>
  <dcterms:modified xsi:type="dcterms:W3CDTF">2026-03-03T21:50:58Z</dcterms:modified>
</cp:coreProperties>
</file>