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4xR4Dbqws3p1GAglmqW6ZBk/x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CBF78E-2B4B-4B58-B122-4F19B2CDEA07}">
  <a:tblStyle styleId="{58CBF78E-2B4B-4B58-B122-4F19B2CDEA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Bill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10567</c:v>
                </c:pt>
                <c:pt idx="1">
                  <c:v>11972</c:v>
                </c:pt>
                <c:pt idx="2">
                  <c:v>10501</c:v>
                </c:pt>
                <c:pt idx="3">
                  <c:v>11869</c:v>
                </c:pt>
                <c:pt idx="4">
                  <c:v>12401</c:v>
                </c:pt>
                <c:pt idx="5">
                  <c:v>13053</c:v>
                </c:pt>
                <c:pt idx="6">
                  <c:v>11945</c:v>
                </c:pt>
                <c:pt idx="7">
                  <c:v>12019</c:v>
                </c:pt>
                <c:pt idx="8">
                  <c:v>11727</c:v>
                </c:pt>
                <c:pt idx="9">
                  <c:v>12682</c:v>
                </c:pt>
                <c:pt idx="10">
                  <c:v>10910</c:v>
                </c:pt>
                <c:pt idx="11">
                  <c:v>12115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7162</c:v>
                </c:pt>
                <c:pt idx="1">
                  <c:v>8549</c:v>
                </c:pt>
                <c:pt idx="2">
                  <c:v>7026</c:v>
                </c:pt>
                <c:pt idx="3">
                  <c:v>7924</c:v>
                </c:pt>
                <c:pt idx="4">
                  <c:v>8430</c:v>
                </c:pt>
                <c:pt idx="5">
                  <c:v>8738</c:v>
                </c:pt>
                <c:pt idx="6">
                  <c:v>7911</c:v>
                </c:pt>
                <c:pt idx="7">
                  <c:v>7793</c:v>
                </c:pt>
                <c:pt idx="8">
                  <c:v>7437</c:v>
                </c:pt>
                <c:pt idx="9">
                  <c:v>8770</c:v>
                </c:pt>
                <c:pt idx="10">
                  <c:v>7085</c:v>
                </c:pt>
                <c:pt idx="11">
                  <c:v>8182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3873</c:v>
                </c:pt>
                <c:pt idx="1">
                  <c:v>3873</c:v>
                </c:pt>
                <c:pt idx="2">
                  <c:v>3873</c:v>
                </c:pt>
                <c:pt idx="3">
                  <c:v>3873</c:v>
                </c:pt>
                <c:pt idx="4">
                  <c:v>3873</c:v>
                </c:pt>
                <c:pt idx="5">
                  <c:v>4243</c:v>
                </c:pt>
                <c:pt idx="6">
                  <c:v>4243</c:v>
                </c:pt>
                <c:pt idx="7">
                  <c:v>4243</c:v>
                </c:pt>
                <c:pt idx="8">
                  <c:v>4243</c:v>
                </c:pt>
                <c:pt idx="9">
                  <c:v>3873</c:v>
                </c:pt>
                <c:pt idx="10">
                  <c:v>3873</c:v>
                </c:pt>
                <c:pt idx="11">
                  <c:v>3873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Charges ($)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1001</c:v>
                </c:pt>
                <c:pt idx="1">
                  <c:v>1052</c:v>
                </c:pt>
                <c:pt idx="2">
                  <c:v>926</c:v>
                </c:pt>
                <c:pt idx="3">
                  <c:v>523</c:v>
                </c:pt>
                <c:pt idx="4">
                  <c:v>523</c:v>
                </c:pt>
                <c:pt idx="5">
                  <c:v>581</c:v>
                </c:pt>
                <c:pt idx="6">
                  <c:v>807</c:v>
                </c:pt>
                <c:pt idx="7">
                  <c:v>620</c:v>
                </c:pt>
                <c:pt idx="8">
                  <c:v>541</c:v>
                </c:pt>
                <c:pt idx="9">
                  <c:v>597</c:v>
                </c:pt>
                <c:pt idx="10">
                  <c:v>597</c:v>
                </c:pt>
                <c:pt idx="11">
                  <c:v>548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kWh Forecast by Period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Predicted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  <c:pt idx="4">
                    <c:v>P5</c:v>
                  </c:pt>
                  <c:pt idx="5">
                    <c:v>P6</c:v>
                  </c:pt>
                  <c:pt idx="6">
                    <c:v>P7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  <c:pt idx="10">
                    <c:v>P11</c:v>
                  </c:pt>
                  <c:pt idx="11">
                    <c:v>P12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106099</c:v>
                </c:pt>
                <c:pt idx="1">
                  <c:v>126652</c:v>
                </c:pt>
                <c:pt idx="2">
                  <c:v>104095</c:v>
                </c:pt>
                <c:pt idx="3">
                  <c:v>117393</c:v>
                </c:pt>
                <c:pt idx="4">
                  <c:v>124895</c:v>
                </c:pt>
                <c:pt idx="5">
                  <c:v>129450</c:v>
                </c:pt>
                <c:pt idx="6">
                  <c:v>117206</c:v>
                </c:pt>
                <c:pt idx="7">
                  <c:v>115454</c:v>
                </c:pt>
                <c:pt idx="8">
                  <c:v>110178</c:v>
                </c:pt>
                <c:pt idx="9">
                  <c:v>129925</c:v>
                </c:pt>
                <c:pt idx="10">
                  <c:v>104968</c:v>
                </c:pt>
                <c:pt idx="11">
                  <c:v>121208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75B6">
              <a:alpha val="40000"/>
            </a:srgbClr>
          </a:solidFill>
          <a:ln cap="flat" cmpd="sng" w="12700">
            <a:solidFill>
              <a:srgbClr val="2E75B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9488">
              <a:alpha val="50196"/>
            </a:srgbClr>
          </a:solidFill>
          <a:ln cap="flat" cmpd="sng" w="12700">
            <a:solidFill>
              <a:srgbClr val="0D94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3200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t/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729 </a:t>
            </a:r>
            <a:r>
              <a:rPr b="0" i="0" lang="en-US" sz="16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Powell Facilities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173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Electricity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20040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OLS Regression Model  |  12-Period Billing Forecast  |  Actual vs. Budget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931920"/>
            <a:ext cx="219456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393192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Prepared: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 Model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28600" y="868680"/>
            <a:ext cx="274320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28600" y="868680"/>
            <a:ext cx="2743200" cy="54864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28600" y="10058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38328" y="1554480"/>
            <a:ext cx="2523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kWh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1984248"/>
            <a:ext cx="219456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20848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β₀ = −49,960 (intercept)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5968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β₁ = 3,740 ×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3108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β₂ = 0.0943 × Prod. (kg)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362102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β₃ = 9,125 × Summer 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4133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R² = 0.641 | p &lt; 0.001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0" y="868680"/>
            <a:ext cx="274320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10128" y="1554480"/>
            <a:ext cx="2523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kW Seasonal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74720" y="1984248"/>
            <a:ext cx="219456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337560" y="20848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Non-summer avg: 281.65 kW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337560" y="25968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Summer avg: 308.60 kW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337560" y="3108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Summer uplift: +26.95 kW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337560" y="362102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 to May – Aug periods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337560" y="4133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Based on 2024–2025 actuals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72200" y="868680"/>
            <a:ext cx="2743200" cy="4069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172200" y="868680"/>
            <a:ext cx="27432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172200" y="10058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81928" y="1554480"/>
            <a:ext cx="2523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 Assumptions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46520" y="1984248"/>
            <a:ext cx="219456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309360" y="208483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Energy rate: $0.0675/kWh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309360" y="2596896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Demand rate: $13.75/kW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309360" y="3108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Basic: $1.00/day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09360" y="3621024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GST: 5% on pretax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309360" y="413308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Riders/credits: 2025 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Annual Forecast Summary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82880" y="77724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82880" y="777240"/>
            <a:ext cx="2029968" cy="64008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28600" y="896112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$141,760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28600" y="1517904"/>
            <a:ext cx="1938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Bill (2026)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28600" y="181051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Annual forecast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395728" y="77724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395728" y="777240"/>
            <a:ext cx="2029968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441448" y="896112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1,407,524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441448" y="1517904"/>
            <a:ext cx="1938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kWh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441448" y="181051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Energy consumed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08576" y="77724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608576" y="777240"/>
            <a:ext cx="2029968" cy="6400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654296" y="896112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290.6 kW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54296" y="1517904"/>
            <a:ext cx="1938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 kW Demand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654296" y="181051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Blended average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21424" y="777240"/>
            <a:ext cx="2029968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821424" y="777240"/>
            <a:ext cx="2029968" cy="640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867144" y="896112"/>
            <a:ext cx="193852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$11,813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867144" y="1517904"/>
            <a:ext cx="19385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 Monthly Bill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867144" y="181051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 billing period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" name="Google Shape;88;p3"/>
          <p:cNvGraphicFramePr/>
          <p:nvPr/>
        </p:nvGraphicFramePr>
        <p:xfrm>
          <a:off x="182880" y="2377440"/>
          <a:ext cx="8778240" cy="2514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9" name="Google Shape;89;p3"/>
          <p:cNvSpPr/>
          <p:nvPr/>
        </p:nvSpPr>
        <p:spPr>
          <a:xfrm>
            <a:off x="4462272" y="2395728"/>
            <a:ext cx="1691640" cy="228600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462272" y="239572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🟡 Summer periods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Billing Period Forecast – Detail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4"/>
          <p:cNvGraphicFramePr/>
          <p:nvPr/>
        </p:nvGraphicFramePr>
        <p:xfrm>
          <a:off x="137160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{58CBF78E-2B4B-4B58-B122-4F19B2CDEA07}</a:tableStyleId>
              </a:tblPr>
              <a:tblGrid>
                <a:gridCol w="411475"/>
                <a:gridCol w="1371600"/>
                <a:gridCol w="411475"/>
                <a:gridCol w="868675"/>
                <a:gridCol w="868675"/>
                <a:gridCol w="640075"/>
                <a:gridCol w="777250"/>
                <a:gridCol w="777250"/>
                <a:gridCol w="731525"/>
                <a:gridCol w="777250"/>
              </a:tblGrid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Period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Billing Dates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Days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Prod (kg)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kWh Pred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kW Pred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Energy ($)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Demand ($)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Other ($)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Total ($)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Dec 31–Jan 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465,001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106,099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$7,162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−$1,001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$10,567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Jan 30–Mar 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603,627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126,652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$8,549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−$1,052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$11,972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Mar 3–Mar 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523,079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104,095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$7,026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−$926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$10,501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Mar 31–Apr 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584,763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117,393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$7,924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−$523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$11,869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Apr 30–May 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664,325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124,895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$8,430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−$523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$12,401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May 30–Jun 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576,195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129,450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308.6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$8,738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$4,243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−$581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$13,053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Jun 30–Jul 28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525,690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117,206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308.6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$7,911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$4,243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−$807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$11,945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Jul 29–Aug 27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467,445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115,454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308.6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$7,793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$4,243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−$620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$12,019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Aug 28–Sep 25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451,158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110,178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308.6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$7,437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$4,243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−$541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$11,727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Sep 26–Oct 28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598,668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129,925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$8,770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−$597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$12,682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Oct 29–Nov 27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453,008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104,968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$7,085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−$597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$10,910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Nov 28–Dec 29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32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545,891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121,208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281.6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$8,182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$3,873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</a:rPr>
                        <a:t>−$548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F3864"/>
                          </a:solidFill>
                        </a:rPr>
                        <a:t>$12,115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2651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354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6,458,850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1,407,524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290.6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$95,008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$47,954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−$8,317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</a:rPr>
                        <a:t>$141,760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4"/>
          <p:cNvSpPr/>
          <p:nvPr/>
        </p:nvSpPr>
        <p:spPr>
          <a:xfrm>
            <a:off x="137160" y="4892040"/>
            <a:ext cx="228600" cy="146304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11480" y="48646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Summer period (May–Aug)  |  Total Bill = Pretax + 5% GST  |  Other = Rate Rider + Credit charges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Actual vs. Forecast – Periods 1 &amp; 2 (Bills Received)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74320" y="804672"/>
            <a:ext cx="402336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274320" y="804672"/>
            <a:ext cx="4023360" cy="6400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84048" y="914400"/>
            <a:ext cx="3803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Period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84048" y="1243584"/>
            <a:ext cx="3803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 31, 2025 – Jan 29,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0" y="1554480"/>
            <a:ext cx="36576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11480" y="1673352"/>
            <a:ext cx="1737360" cy="10058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11480" y="1719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11480" y="19476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$10,567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331720" y="1673352"/>
            <a:ext cx="1737360" cy="100584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2331720" y="1719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ACTUAL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331720" y="19476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$11,212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103120" y="1947672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31520" y="2862072"/>
            <a:ext cx="3108960" cy="77724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31520" y="29077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Variance (Actual − Forecast)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31520" y="31546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+$645  (+6.1%)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11480" y="382219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Actual bill exceeded forecast —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than seasonal model predicted.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09160" y="804672"/>
            <a:ext cx="402336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709160" y="804672"/>
            <a:ext cx="4023360" cy="6400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818888" y="914400"/>
            <a:ext cx="3803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Period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818888" y="1243584"/>
            <a:ext cx="3803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 30 – Mar 2,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892040" y="1554480"/>
            <a:ext cx="36576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846320" y="1673352"/>
            <a:ext cx="1737360" cy="10058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846320" y="1719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FORECAST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846320" y="19476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$11,972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766560" y="1673352"/>
            <a:ext cx="1737360" cy="100584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766560" y="1719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ACTUAL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766560" y="194767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$12,527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537960" y="1947672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166360" y="2862072"/>
            <a:ext cx="3108960" cy="77724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166360" y="29077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Variance (Actual − Forecast)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66360" y="31546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+$555  (+4.6%)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846320" y="3822192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Actual bill exceeded forecast —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than seasonal model predicted.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Note: Variance reflects difference between billed amount and OLS regression forecast. Forecasts use 2025 rate template.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 Components &amp; kWh Forecast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6"/>
          <p:cNvGraphicFramePr/>
          <p:nvPr/>
        </p:nvGraphicFramePr>
        <p:xfrm>
          <a:off x="182880" y="749808"/>
          <a:ext cx="5303520" cy="41148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49" name="Google Shape;149;p6"/>
          <p:cNvGraphicFramePr/>
          <p:nvPr/>
        </p:nvGraphicFramePr>
        <p:xfrm>
          <a:off x="5577840" y="749808"/>
          <a:ext cx="3429000" cy="411480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2236"/>
          </a:solidFill>
          <a:ln cap="flat" cmpd="sng" w="12700">
            <a:solidFill>
              <a:srgbClr val="1622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65760" y="274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65760" y="804672"/>
            <a:ext cx="45720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20040" y="1014984"/>
            <a:ext cx="228600" cy="228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20040" y="10149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" y="96012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Rates stable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40080" y="121615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2025 median rates applied to all 2026 periods ($0.0675/kWh, $13.75/kW)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040" y="1773936"/>
            <a:ext cx="228600" cy="228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20040" y="177393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" y="17190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Riders fixed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080" y="1975104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Rate riders and credits replicated from 2025 template by period position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0040" y="2532888"/>
            <a:ext cx="228600" cy="228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20040" y="253288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40080" y="247802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40080" y="2734056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Monthly kg from 2026 budget; prorated daily into each billing period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20040" y="3291840"/>
            <a:ext cx="228600" cy="228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20040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40080" y="323697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Summer flag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" y="349300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May–August periods use kW uplift of +26.95 kW over non-summer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20040" y="4050792"/>
            <a:ext cx="228600" cy="228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20040" y="405079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399592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425196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5% applied to all pretax totals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0" y="2743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 Actions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0" y="804672"/>
            <a:ext cx="3474720" cy="274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486400" y="1005840"/>
            <a:ext cx="3474720" cy="65836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D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559552" y="109728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989320" y="1078992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Update rate assumptions when 2026 tariff notice is received from utility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86400" y="1764792"/>
            <a:ext cx="3474720" cy="65836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D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559552" y="1856232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989320" y="183794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Replace template riders with actual 2026 rider amounts as bills arrive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0" y="2523744"/>
            <a:ext cx="3474720" cy="65836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D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559552" y="2615184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989320" y="2596896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Refresh regression model quarterly using incoming 2026 actuals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0" y="3282696"/>
            <a:ext cx="3474720" cy="65836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D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559552" y="3374136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989320" y="3355848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Monitor summer demand — actual kW may exceed 308.6 kW if production rises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0" y="4041648"/>
            <a:ext cx="3474720" cy="65836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D5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559552" y="413308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989320" y="4114800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Reconcile each period: actual bill vs. forecast within 5% is target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86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749040" y="2743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Electricity Forecast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OLS Model · 12 Billing Periods · $141,760 Total Forecast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011680" y="30632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4.27%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011680" y="363931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Backtest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840480" y="30632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$499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840480" y="363931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Avg period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669280" y="30632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669280" y="363931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Billing cycles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built on 2024–2025 actuals · Rates based on 2025 utility bills · Subject to tariff changes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20040" y="0"/>
            <a:ext cx="6217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Saving Opportunities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675120" y="100584"/>
            <a:ext cx="233172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675120" y="100584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Potential: ~$4,000–$8,000/yr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01168" y="74980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the $141,760 Goes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01168" y="1005840"/>
            <a:ext cx="2697480" cy="320040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201168" y="100584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 67%  $95,007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898648" y="1005840"/>
            <a:ext cx="132588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2898648" y="100584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 33%  $47,956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343400" y="7132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kWh/Tonne Intensity by Period  (best=188, worst=247, avg=220)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343400" y="1956816"/>
            <a:ext cx="128016" cy="10972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4498848" y="1947672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Best (P5)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303520" y="1956816"/>
            <a:ext cx="128016" cy="10972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458968" y="1947672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Worst (P8)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355080" y="1956816"/>
            <a:ext cx="128016" cy="10972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510528" y="1947672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Summer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55448" y="1847088"/>
            <a:ext cx="2834640" cy="3218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55448" y="1847088"/>
            <a:ext cx="2834640" cy="64008"/>
          </a:xfrm>
          <a:prstGeom prst="rect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265176" y="1938528"/>
            <a:ext cx="347472" cy="347472"/>
          </a:xfrm>
          <a:prstGeom prst="ellipse">
            <a:avLst/>
          </a:prstGeom>
          <a:solidFill>
            <a:srgbClr val="2E75B6"/>
          </a:solidFill>
          <a:ln cap="flat" cmpd="sng" w="12700">
            <a:solidFill>
              <a:srgbClr val="2E75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265176" y="1938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85800" y="1975104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Energy Efficiency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92608" y="2368296"/>
            <a:ext cx="2560320" cy="347472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292608" y="23682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$2,850 – $4,750/yr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46888" y="27432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3–5% reduction in kWh consumed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46888" y="29626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Energy is 67% of your bill — it's the biggest lever.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65176" y="3236976"/>
            <a:ext cx="2615184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246888" y="331012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Audit compressed air systems for leaks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246888" y="371246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LED lighting &amp; HVAC occupancy scheduling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46888" y="4114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Benchmark all periods to best-case P5 (188 kWh/t)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46888" y="45171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Target: reduce 31% intensity gap best vs. worst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145536" y="1847088"/>
            <a:ext cx="2834640" cy="3218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145536" y="1847088"/>
            <a:ext cx="283464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255264" y="1938528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3255264" y="1938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675888" y="1975104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Demand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282696" y="2368296"/>
            <a:ext cx="2560320" cy="347472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282696" y="23682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$825 – $1,650/yr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236976" y="27432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5–10 kW reduction in registered peak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236976" y="29626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Summer kW runs 27 kW above non-summer baseline.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255264" y="3236976"/>
            <a:ext cx="2615184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236976" y="331012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Stagger equipment startups — avoid coincident peaks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236976" y="371246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 real-time kW dashboard / demand controller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36976" y="4114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Schedule high-draw tasks outside billing peak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236976" y="45171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Focus on P6–P9: each kW saved = $55/yr at $13.75/kW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135624" y="1847088"/>
            <a:ext cx="2834640" cy="3218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135624" y="1847088"/>
            <a:ext cx="2834640" cy="640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245352" y="1938528"/>
            <a:ext cx="347472" cy="347472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245352" y="1938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665976" y="1975104"/>
            <a:ext cx="2176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 Shifting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72784" y="2368296"/>
            <a:ext cx="2560320" cy="347472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272784" y="236829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$825/yr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227064" y="27432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kW registered demand reduction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27064" y="296265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No capital spend — scheduling discipline only.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245352" y="3236976"/>
            <a:ext cx="2615184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227064" y="331012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Move washdowns, CIP, cleaning to off-peak hours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227064" y="371246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Defer non-critical loads during peak production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227064" y="4114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Review billing cycle dates vs. high-demand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227064" y="451713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actual vs. registered demand each period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0" y="4837176"/>
            <a:ext cx="9144000" cy="306324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274320" y="4837176"/>
            <a:ext cx="8595360" cy="306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880"/>
              <a:buFont typeface="Calibri"/>
              <a:buNone/>
            </a:pPr>
            <a:r>
              <a:rPr b="0" i="1" lang="en-US" sz="88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Total potential: $4,000–$8,000/yr  |  #1 Priority: Energy efficiency (67% of spend, zero-capex audits first)  |  Quick win: Demand staggering requires no investment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2026-04-01T21:42:18Z</dcterms:created>
  <dc:creator>PptxGenJS</dc:creator>
</cp:coreProperties>
</file>